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handoutMasterIdLst>
    <p:handoutMasterId r:id="rId71"/>
  </p:handoutMasterIdLst>
  <p:sldIdLst>
    <p:sldId id="256" r:id="rId2"/>
    <p:sldId id="373" r:id="rId3"/>
    <p:sldId id="269" r:id="rId4"/>
    <p:sldId id="257" r:id="rId5"/>
    <p:sldId id="360" r:id="rId6"/>
    <p:sldId id="361" r:id="rId7"/>
    <p:sldId id="297" r:id="rId8"/>
    <p:sldId id="261" r:id="rId9"/>
    <p:sldId id="266" r:id="rId10"/>
    <p:sldId id="337" r:id="rId11"/>
    <p:sldId id="272" r:id="rId12"/>
    <p:sldId id="338" r:id="rId13"/>
    <p:sldId id="270" r:id="rId14"/>
    <p:sldId id="339" r:id="rId15"/>
    <p:sldId id="346" r:id="rId16"/>
    <p:sldId id="349" r:id="rId17"/>
    <p:sldId id="350" r:id="rId18"/>
    <p:sldId id="351" r:id="rId19"/>
    <p:sldId id="352" r:id="rId20"/>
    <p:sldId id="353" r:id="rId21"/>
    <p:sldId id="354" r:id="rId22"/>
    <p:sldId id="359" r:id="rId23"/>
    <p:sldId id="276" r:id="rId24"/>
    <p:sldId id="369" r:id="rId25"/>
    <p:sldId id="362" r:id="rId26"/>
    <p:sldId id="363" r:id="rId27"/>
    <p:sldId id="277" r:id="rId28"/>
    <p:sldId id="307" r:id="rId29"/>
    <p:sldId id="304" r:id="rId30"/>
    <p:sldId id="301" r:id="rId31"/>
    <p:sldId id="275" r:id="rId32"/>
    <p:sldId id="314" r:id="rId33"/>
    <p:sldId id="302" r:id="rId34"/>
    <p:sldId id="317" r:id="rId35"/>
    <p:sldId id="365" r:id="rId36"/>
    <p:sldId id="372" r:id="rId37"/>
    <p:sldId id="305" r:id="rId38"/>
    <p:sldId id="367" r:id="rId39"/>
    <p:sldId id="306" r:id="rId40"/>
    <p:sldId id="370" r:id="rId41"/>
    <p:sldId id="364" r:id="rId42"/>
    <p:sldId id="468" r:id="rId43"/>
    <p:sldId id="451" r:id="rId44"/>
    <p:sldId id="452" r:id="rId45"/>
    <p:sldId id="453" r:id="rId46"/>
    <p:sldId id="454" r:id="rId47"/>
    <p:sldId id="455" r:id="rId48"/>
    <p:sldId id="456" r:id="rId49"/>
    <p:sldId id="466" r:id="rId50"/>
    <p:sldId id="457" r:id="rId51"/>
    <p:sldId id="460" r:id="rId52"/>
    <p:sldId id="461" r:id="rId53"/>
    <p:sldId id="458" r:id="rId54"/>
    <p:sldId id="462" r:id="rId55"/>
    <p:sldId id="463" r:id="rId56"/>
    <p:sldId id="464" r:id="rId57"/>
    <p:sldId id="465" r:id="rId58"/>
    <p:sldId id="448" r:id="rId59"/>
    <p:sldId id="467" r:id="rId60"/>
    <p:sldId id="375" r:id="rId61"/>
    <p:sldId id="374" r:id="rId62"/>
    <p:sldId id="376" r:id="rId63"/>
    <p:sldId id="432" r:id="rId64"/>
    <p:sldId id="431" r:id="rId65"/>
    <p:sldId id="433" r:id="rId66"/>
    <p:sldId id="377" r:id="rId67"/>
    <p:sldId id="386" r:id="rId68"/>
    <p:sldId id="440" r:id="rId69"/>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charset="-120"/>
        <a:cs typeface="+mn-cs"/>
      </a:defRPr>
    </a:lvl1pPr>
    <a:lvl2pPr marL="457200" algn="l" rtl="0" fontAlgn="base">
      <a:spcBef>
        <a:spcPct val="0"/>
      </a:spcBef>
      <a:spcAft>
        <a:spcPct val="0"/>
      </a:spcAft>
      <a:defRPr kumimoji="1" kern="1200">
        <a:solidFill>
          <a:schemeClr val="tx1"/>
        </a:solidFill>
        <a:latin typeface="Arial" charset="0"/>
        <a:ea typeface="新細明體" charset="-120"/>
        <a:cs typeface="+mn-cs"/>
      </a:defRPr>
    </a:lvl2pPr>
    <a:lvl3pPr marL="914400" algn="l" rtl="0" fontAlgn="base">
      <a:spcBef>
        <a:spcPct val="0"/>
      </a:spcBef>
      <a:spcAft>
        <a:spcPct val="0"/>
      </a:spcAft>
      <a:defRPr kumimoji="1" kern="1200">
        <a:solidFill>
          <a:schemeClr val="tx1"/>
        </a:solidFill>
        <a:latin typeface="Arial" charset="0"/>
        <a:ea typeface="新細明體" charset="-120"/>
        <a:cs typeface="+mn-cs"/>
      </a:defRPr>
    </a:lvl3pPr>
    <a:lvl4pPr marL="1371600" algn="l" rtl="0" fontAlgn="base">
      <a:spcBef>
        <a:spcPct val="0"/>
      </a:spcBef>
      <a:spcAft>
        <a:spcPct val="0"/>
      </a:spcAft>
      <a:defRPr kumimoji="1" kern="1200">
        <a:solidFill>
          <a:schemeClr val="tx1"/>
        </a:solidFill>
        <a:latin typeface="Arial" charset="0"/>
        <a:ea typeface="新細明體" charset="-120"/>
        <a:cs typeface="+mn-cs"/>
      </a:defRPr>
    </a:lvl4pPr>
    <a:lvl5pPr marL="1828800" algn="l" rtl="0" fontAlgn="base">
      <a:spcBef>
        <a:spcPct val="0"/>
      </a:spcBef>
      <a:spcAft>
        <a:spcPct val="0"/>
      </a:spcAft>
      <a:defRPr kumimoji="1" kern="1200">
        <a:solidFill>
          <a:schemeClr val="tx1"/>
        </a:solidFill>
        <a:latin typeface="Arial" charset="0"/>
        <a:ea typeface="新細明體" charset="-120"/>
        <a:cs typeface="+mn-cs"/>
      </a:defRPr>
    </a:lvl5pPr>
    <a:lvl6pPr marL="2286000" algn="l" defTabSz="914400" rtl="0" eaLnBrk="1" latinLnBrk="0" hangingPunct="1">
      <a:defRPr kumimoji="1" kern="1200">
        <a:solidFill>
          <a:schemeClr val="tx1"/>
        </a:solidFill>
        <a:latin typeface="Arial" charset="0"/>
        <a:ea typeface="新細明體" charset="-120"/>
        <a:cs typeface="+mn-cs"/>
      </a:defRPr>
    </a:lvl6pPr>
    <a:lvl7pPr marL="2743200" algn="l" defTabSz="914400" rtl="0" eaLnBrk="1" latinLnBrk="0" hangingPunct="1">
      <a:defRPr kumimoji="1" kern="1200">
        <a:solidFill>
          <a:schemeClr val="tx1"/>
        </a:solidFill>
        <a:latin typeface="Arial" charset="0"/>
        <a:ea typeface="新細明體" charset="-120"/>
        <a:cs typeface="+mn-cs"/>
      </a:defRPr>
    </a:lvl7pPr>
    <a:lvl8pPr marL="3200400" algn="l" defTabSz="914400" rtl="0" eaLnBrk="1" latinLnBrk="0" hangingPunct="1">
      <a:defRPr kumimoji="1" kern="1200">
        <a:solidFill>
          <a:schemeClr val="tx1"/>
        </a:solidFill>
        <a:latin typeface="Arial" charset="0"/>
        <a:ea typeface="新細明體" charset="-120"/>
        <a:cs typeface="+mn-cs"/>
      </a:defRPr>
    </a:lvl8pPr>
    <a:lvl9pPr marL="3657600" algn="l" defTabSz="914400" rtl="0" eaLnBrk="1" latinLnBrk="0" hangingPunct="1">
      <a:defRPr kumimoji="1" kern="1200">
        <a:solidFill>
          <a:schemeClr val="tx1"/>
        </a:solidFill>
        <a:latin typeface="Arial" charset="0"/>
        <a:ea typeface="新細明體"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914" autoAdjust="0"/>
    <p:restoredTop sz="86418" autoAdjust="0"/>
  </p:normalViewPr>
  <p:slideViewPr>
    <p:cSldViewPr>
      <p:cViewPr varScale="1">
        <p:scale>
          <a:sx n="136" d="100"/>
          <a:sy n="136" d="100"/>
        </p:scale>
        <p:origin x="869" y="86"/>
      </p:cViewPr>
      <p:guideLst>
        <p:guide orient="horz" pos="2160"/>
        <p:guide pos="2880"/>
      </p:guideLst>
    </p:cSldViewPr>
  </p:slideViewPr>
  <p:outlineViewPr>
    <p:cViewPr>
      <p:scale>
        <a:sx n="30" d="100"/>
        <a:sy n="30" d="100"/>
      </p:scale>
      <p:origin x="0" y="0"/>
    </p:cViewPr>
  </p:outlineViewPr>
  <p:notesTextViewPr>
    <p:cViewPr>
      <p:scale>
        <a:sx n="100" d="100"/>
        <a:sy n="100" d="100"/>
      </p:scale>
      <p:origin x="0" y="0"/>
    </p:cViewPr>
  </p:notesTextViewPr>
  <p:sorterViewPr>
    <p:cViewPr>
      <p:scale>
        <a:sx n="66" d="100"/>
        <a:sy n="66" d="100"/>
      </p:scale>
      <p:origin x="0" y="629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15769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15770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15770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9B0DA704-F729-429C-B40B-19E725E0A48E}" type="slidenum">
              <a:rPr lang="en-US"/>
              <a:pPr>
                <a:defRPr/>
              </a:pPr>
              <a:t>‹#›</a:t>
            </a:fld>
            <a:endParaRPr lang="en-US"/>
          </a:p>
        </p:txBody>
      </p:sp>
    </p:spTree>
    <p:extLst>
      <p:ext uri="{BB962C8B-B14F-4D97-AF65-F5344CB8AC3E}">
        <p14:creationId xmlns:p14="http://schemas.microsoft.com/office/powerpoint/2010/main" val="19274076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TW"/>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TW"/>
          </a:p>
        </p:txBody>
      </p:sp>
      <p:sp>
        <p:nvSpPr>
          <p:cNvPr id="47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TW"/>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396ACAA0-0AA1-4C38-BEA5-3940A7F06ABF}" type="slidenum">
              <a:rPr lang="en-US" altLang="zh-TW"/>
              <a:pPr>
                <a:defRPr/>
              </a:pPr>
              <a:t>‹#›</a:t>
            </a:fld>
            <a:endParaRPr lang="en-US" altLang="zh-TW"/>
          </a:p>
        </p:txBody>
      </p:sp>
    </p:spTree>
    <p:extLst>
      <p:ext uri="{BB962C8B-B14F-4D97-AF65-F5344CB8AC3E}">
        <p14:creationId xmlns:p14="http://schemas.microsoft.com/office/powerpoint/2010/main" val="33595389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新細明體" charset="-120"/>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新細明體"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新細明體"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新細明體"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新細明體"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fld id="{D4335B56-3AA3-4BBE-ABF4-9631BEB9B2DF}" type="slidenum">
              <a:rPr lang="en-US" altLang="zh-TW"/>
              <a:pPr eaLnBrk="1" hangingPunct="1"/>
              <a:t>23</a:t>
            </a:fld>
            <a:endParaRPr lang="en-US" altLang="zh-TW"/>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TW"/>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fld id="{3B99F7FD-7F49-4CF8-B303-C7D7AE1266B9}" type="slidenum">
              <a:rPr lang="en-US" altLang="zh-TW"/>
              <a:pPr eaLnBrk="1" hangingPunct="1"/>
              <a:t>27</a:t>
            </a:fld>
            <a:endParaRPr lang="en-US" altLang="zh-TW"/>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TW"/>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fld id="{725F9B64-3C74-4BD4-B098-15F7161E67E7}" type="slidenum">
              <a:rPr lang="en-US" altLang="zh-TW"/>
              <a:pPr eaLnBrk="1" hangingPunct="1"/>
              <a:t>31</a:t>
            </a:fld>
            <a:endParaRPr lang="en-US" altLang="zh-TW"/>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tLang="zh-TW"/>
              <a:t>Click to edit Master title style</a:t>
            </a:r>
            <a:endParaRPr lang="zh-TW"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21F756A0-1C7B-4309-A0DD-C17AB856250A}" type="slidenum">
              <a:rPr lang="en-US" altLang="zh-TW"/>
              <a:pPr>
                <a:defRPr/>
              </a:pPr>
              <a:t>‹#›</a:t>
            </a:fld>
            <a:endParaRPr lang="en-US" altLang="zh-TW"/>
          </a:p>
        </p:txBody>
      </p:sp>
    </p:spTree>
    <p:extLst>
      <p:ext uri="{BB962C8B-B14F-4D97-AF65-F5344CB8AC3E}">
        <p14:creationId xmlns:p14="http://schemas.microsoft.com/office/powerpoint/2010/main" val="1528784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D1433331-43A0-4232-B797-4BED0661ACDD}" type="slidenum">
              <a:rPr lang="en-US" altLang="zh-TW"/>
              <a:pPr>
                <a:defRPr/>
              </a:pPr>
              <a:t>‹#›</a:t>
            </a:fld>
            <a:endParaRPr lang="en-US" altLang="zh-TW"/>
          </a:p>
        </p:txBody>
      </p:sp>
    </p:spTree>
    <p:extLst>
      <p:ext uri="{BB962C8B-B14F-4D97-AF65-F5344CB8AC3E}">
        <p14:creationId xmlns:p14="http://schemas.microsoft.com/office/powerpoint/2010/main" val="1321310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AB45A4C4-5798-45CE-9DD5-FDC9C54B7594}" type="slidenum">
              <a:rPr lang="en-US" altLang="zh-TW"/>
              <a:pPr>
                <a:defRPr/>
              </a:pPr>
              <a:t>‹#›</a:t>
            </a:fld>
            <a:endParaRPr lang="en-US" altLang="zh-TW"/>
          </a:p>
        </p:txBody>
      </p:sp>
    </p:spTree>
    <p:extLst>
      <p:ext uri="{BB962C8B-B14F-4D97-AF65-F5344CB8AC3E}">
        <p14:creationId xmlns:p14="http://schemas.microsoft.com/office/powerpoint/2010/main" val="4072519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4EACB9C1-F634-44A0-854B-7F0C293944B9}" type="slidenum">
              <a:rPr lang="en-US" altLang="zh-TW"/>
              <a:pPr>
                <a:defRPr/>
              </a:pPr>
              <a:t>‹#›</a:t>
            </a:fld>
            <a:endParaRPr lang="en-US" altLang="zh-TW"/>
          </a:p>
        </p:txBody>
      </p:sp>
    </p:spTree>
    <p:extLst>
      <p:ext uri="{BB962C8B-B14F-4D97-AF65-F5344CB8AC3E}">
        <p14:creationId xmlns:p14="http://schemas.microsoft.com/office/powerpoint/2010/main" val="395872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p:cNvSpPr>
            <a:spLocks noGrp="1" noChangeArrowheads="1"/>
          </p:cNvSpPr>
          <p:nvPr>
            <p:ph type="sldNum" sz="quarter" idx="12"/>
          </p:nvPr>
        </p:nvSpPr>
        <p:spPr>
          <a:ln/>
        </p:spPr>
        <p:txBody>
          <a:bodyPr/>
          <a:lstStyle>
            <a:lvl1pPr>
              <a:defRPr/>
            </a:lvl1pPr>
          </a:lstStyle>
          <a:p>
            <a:pPr>
              <a:defRPr/>
            </a:pPr>
            <a:fld id="{6B4FC793-57F6-47E4-8FC7-D51FE388CDA2}" type="slidenum">
              <a:rPr lang="en-US" altLang="zh-TW"/>
              <a:pPr>
                <a:defRPr/>
              </a:pPr>
              <a:t>‹#›</a:t>
            </a:fld>
            <a:endParaRPr lang="en-US" altLang="zh-TW"/>
          </a:p>
        </p:txBody>
      </p:sp>
    </p:spTree>
    <p:extLst>
      <p:ext uri="{BB962C8B-B14F-4D97-AF65-F5344CB8AC3E}">
        <p14:creationId xmlns:p14="http://schemas.microsoft.com/office/powerpoint/2010/main" val="2763501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p:cNvSpPr>
            <a:spLocks noGrp="1" noChangeArrowheads="1"/>
          </p:cNvSpPr>
          <p:nvPr>
            <p:ph type="sldNum" sz="quarter" idx="12"/>
          </p:nvPr>
        </p:nvSpPr>
        <p:spPr>
          <a:ln/>
        </p:spPr>
        <p:txBody>
          <a:bodyPr/>
          <a:lstStyle>
            <a:lvl1pPr>
              <a:defRPr/>
            </a:lvl1pPr>
          </a:lstStyle>
          <a:p>
            <a:pPr>
              <a:defRPr/>
            </a:pPr>
            <a:fld id="{2A8E7A3B-FD69-42D0-9998-4DEADBC79F10}" type="slidenum">
              <a:rPr lang="en-US" altLang="zh-TW"/>
              <a:pPr>
                <a:defRPr/>
              </a:pPr>
              <a:t>‹#›</a:t>
            </a:fld>
            <a:endParaRPr lang="en-US" altLang="zh-TW"/>
          </a:p>
        </p:txBody>
      </p:sp>
    </p:spTree>
    <p:extLst>
      <p:ext uri="{BB962C8B-B14F-4D97-AF65-F5344CB8AC3E}">
        <p14:creationId xmlns:p14="http://schemas.microsoft.com/office/powerpoint/2010/main" val="1426483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B9368843-0AED-42FB-8E26-6856D835C478}" type="slidenum">
              <a:rPr lang="en-US" altLang="zh-TW"/>
              <a:pPr>
                <a:defRPr/>
              </a:pPr>
              <a:t>‹#›</a:t>
            </a:fld>
            <a:endParaRPr lang="en-US" altLang="zh-TW"/>
          </a:p>
        </p:txBody>
      </p:sp>
    </p:spTree>
    <p:extLst>
      <p:ext uri="{BB962C8B-B14F-4D97-AF65-F5344CB8AC3E}">
        <p14:creationId xmlns:p14="http://schemas.microsoft.com/office/powerpoint/2010/main" val="2437248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8BC201EB-3662-454B-9C24-A0689846133B}" type="slidenum">
              <a:rPr lang="en-US" altLang="zh-TW"/>
              <a:pPr>
                <a:defRPr/>
              </a:pPr>
              <a:t>‹#›</a:t>
            </a:fld>
            <a:endParaRPr lang="en-US" altLang="zh-TW"/>
          </a:p>
        </p:txBody>
      </p:sp>
    </p:spTree>
    <p:extLst>
      <p:ext uri="{BB962C8B-B14F-4D97-AF65-F5344CB8AC3E}">
        <p14:creationId xmlns:p14="http://schemas.microsoft.com/office/powerpoint/2010/main" val="228170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B350FBC9-C009-491E-9A6A-CFC0F7399D07}" type="slidenum">
              <a:rPr lang="en-US" altLang="zh-TW"/>
              <a:pPr>
                <a:defRPr/>
              </a:pPr>
              <a:t>‹#›</a:t>
            </a:fld>
            <a:endParaRPr lang="en-US" altLang="zh-TW"/>
          </a:p>
        </p:txBody>
      </p:sp>
    </p:spTree>
    <p:extLst>
      <p:ext uri="{BB962C8B-B14F-4D97-AF65-F5344CB8AC3E}">
        <p14:creationId xmlns:p14="http://schemas.microsoft.com/office/powerpoint/2010/main" val="1875754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zh-TW" altLang="en-US"/>
          </a:p>
        </p:txBody>
      </p:sp>
      <p:sp>
        <p:nvSpPr>
          <p:cNvPr id="3" name="Vertical Text Placeholder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6A4B2C64-1323-4556-9651-57B352F7B7D8}" type="slidenum">
              <a:rPr lang="en-US" altLang="zh-TW"/>
              <a:pPr>
                <a:defRPr/>
              </a:pPr>
              <a:t>‹#›</a:t>
            </a:fld>
            <a:endParaRPr lang="en-US" altLang="zh-TW"/>
          </a:p>
        </p:txBody>
      </p:sp>
    </p:spTree>
    <p:extLst>
      <p:ext uri="{BB962C8B-B14F-4D97-AF65-F5344CB8AC3E}">
        <p14:creationId xmlns:p14="http://schemas.microsoft.com/office/powerpoint/2010/main" val="1493114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5888"/>
            <a:ext cx="2057400" cy="6010275"/>
          </a:xfrm>
        </p:spPr>
        <p:txBody>
          <a:bodyPr vert="eaVert"/>
          <a:lstStyle/>
          <a:p>
            <a:r>
              <a:rPr lang="en-US" altLang="zh-TW"/>
              <a:t>Click to edit Master title style</a:t>
            </a:r>
            <a:endParaRPr lang="zh-TW" altLang="en-US"/>
          </a:p>
        </p:txBody>
      </p:sp>
      <p:sp>
        <p:nvSpPr>
          <p:cNvPr id="3" name="Vertical Text Placeholder 2"/>
          <p:cNvSpPr>
            <a:spLocks noGrp="1"/>
          </p:cNvSpPr>
          <p:nvPr>
            <p:ph type="body" orient="vert" idx="1"/>
          </p:nvPr>
        </p:nvSpPr>
        <p:spPr>
          <a:xfrm>
            <a:off x="457200" y="115888"/>
            <a:ext cx="6019800" cy="6010275"/>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16C5D2AF-D7F9-446D-A0A2-A487E9FAB1B8}" type="slidenum">
              <a:rPr lang="en-US" altLang="zh-TW"/>
              <a:pPr>
                <a:defRPr/>
              </a:pPr>
              <a:t>‹#›</a:t>
            </a:fld>
            <a:endParaRPr lang="en-US" altLang="zh-TW"/>
          </a:p>
        </p:txBody>
      </p:sp>
    </p:spTree>
    <p:extLst>
      <p:ext uri="{BB962C8B-B14F-4D97-AF65-F5344CB8AC3E}">
        <p14:creationId xmlns:p14="http://schemas.microsoft.com/office/powerpoint/2010/main" val="821829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115888"/>
            <a:ext cx="822960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2051"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ltLang="zh-TW"/>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ltLang="zh-TW"/>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43EE1463-55C1-40AD-849F-15A98C86EBDF}" type="slidenum">
              <a:rPr lang="en-US" altLang="zh-TW"/>
              <a:pPr>
                <a:defRPr/>
              </a:pPr>
              <a:t>‹#›</a:t>
            </a:fld>
            <a:endParaRPr lang="en-US" altLang="zh-TW"/>
          </a:p>
        </p:txBody>
      </p:sp>
      <p:sp>
        <p:nvSpPr>
          <p:cNvPr id="1031" name="Rectangle 7"/>
          <p:cNvSpPr>
            <a:spLocks noChangeArrowheads="1"/>
          </p:cNvSpPr>
          <p:nvPr userDrawn="1"/>
        </p:nvSpPr>
        <p:spPr bwMode="auto">
          <a:xfrm>
            <a:off x="323850" y="836613"/>
            <a:ext cx="8496300" cy="142875"/>
          </a:xfrm>
          <a:prstGeom prst="rect">
            <a:avLst/>
          </a:prstGeom>
          <a:gradFill rotWithShape="1">
            <a:gsLst>
              <a:gs pos="0">
                <a:schemeClr val="accent2"/>
              </a:gs>
              <a:gs pos="100000">
                <a:schemeClr val="accent1"/>
              </a:gs>
            </a:gsLst>
            <a:lin ang="0" scaled="1"/>
          </a:gradFill>
          <a:ln w="9525">
            <a:noFill/>
            <a:miter lim="800000"/>
            <a:headEnd/>
            <a:tailEnd/>
          </a:ln>
          <a:effectLst/>
        </p:spPr>
        <p:txBody>
          <a:bodyPr wrap="none" anchor="ctr"/>
          <a:lstStyle/>
          <a:p>
            <a:pPr>
              <a:defRPr/>
            </a:pPr>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新細明體" charset="-120"/>
        </a:defRPr>
      </a:lvl2pPr>
      <a:lvl3pPr algn="ctr" rtl="0" eaLnBrk="0" fontAlgn="base" hangingPunct="0">
        <a:spcBef>
          <a:spcPct val="0"/>
        </a:spcBef>
        <a:spcAft>
          <a:spcPct val="0"/>
        </a:spcAft>
        <a:defRPr kumimoji="1" sz="4400">
          <a:solidFill>
            <a:schemeClr val="tx2"/>
          </a:solidFill>
          <a:latin typeface="Arial" charset="0"/>
          <a:ea typeface="新細明體" charset="-120"/>
        </a:defRPr>
      </a:lvl3pPr>
      <a:lvl4pPr algn="ctr" rtl="0" eaLnBrk="0" fontAlgn="base" hangingPunct="0">
        <a:spcBef>
          <a:spcPct val="0"/>
        </a:spcBef>
        <a:spcAft>
          <a:spcPct val="0"/>
        </a:spcAft>
        <a:defRPr kumimoji="1" sz="4400">
          <a:solidFill>
            <a:schemeClr val="tx2"/>
          </a:solidFill>
          <a:latin typeface="Arial" charset="0"/>
          <a:ea typeface="新細明體" charset="-120"/>
        </a:defRPr>
      </a:lvl4pPr>
      <a:lvl5pPr algn="ctr" rtl="0" eaLnBrk="0" fontAlgn="base" hangingPunct="0">
        <a:spcBef>
          <a:spcPct val="0"/>
        </a:spcBef>
        <a:spcAft>
          <a:spcPct val="0"/>
        </a:spcAft>
        <a:defRPr kumimoji="1" sz="4400">
          <a:solidFill>
            <a:schemeClr val="tx2"/>
          </a:solidFill>
          <a:latin typeface="Arial" charset="0"/>
          <a:ea typeface="新細明體" charset="-120"/>
        </a:defRPr>
      </a:lvl5pPr>
      <a:lvl6pPr marL="457200" algn="ctr" rtl="0" fontAlgn="base">
        <a:spcBef>
          <a:spcPct val="0"/>
        </a:spcBef>
        <a:spcAft>
          <a:spcPct val="0"/>
        </a:spcAft>
        <a:defRPr kumimoji="1" sz="4400">
          <a:solidFill>
            <a:schemeClr val="tx2"/>
          </a:solidFill>
          <a:latin typeface="Arial" charset="0"/>
          <a:ea typeface="新細明體" charset="-120"/>
        </a:defRPr>
      </a:lvl6pPr>
      <a:lvl7pPr marL="914400" algn="ctr" rtl="0" fontAlgn="base">
        <a:spcBef>
          <a:spcPct val="0"/>
        </a:spcBef>
        <a:spcAft>
          <a:spcPct val="0"/>
        </a:spcAft>
        <a:defRPr kumimoji="1" sz="4400">
          <a:solidFill>
            <a:schemeClr val="tx2"/>
          </a:solidFill>
          <a:latin typeface="Arial" charset="0"/>
          <a:ea typeface="新細明體" charset="-120"/>
        </a:defRPr>
      </a:lvl7pPr>
      <a:lvl8pPr marL="1371600" algn="ctr" rtl="0" fontAlgn="base">
        <a:spcBef>
          <a:spcPct val="0"/>
        </a:spcBef>
        <a:spcAft>
          <a:spcPct val="0"/>
        </a:spcAft>
        <a:defRPr kumimoji="1" sz="4400">
          <a:solidFill>
            <a:schemeClr val="tx2"/>
          </a:solidFill>
          <a:latin typeface="Arial" charset="0"/>
          <a:ea typeface="新細明體" charset="-120"/>
        </a:defRPr>
      </a:lvl8pPr>
      <a:lvl9pPr marL="1828800" algn="ctr" rtl="0" fontAlgn="base">
        <a:spcBef>
          <a:spcPct val="0"/>
        </a:spcBef>
        <a:spcAft>
          <a:spcPct val="0"/>
        </a:spcAft>
        <a:defRPr kumimoji="1" sz="4400">
          <a:solidFill>
            <a:schemeClr val="tx2"/>
          </a:solidFill>
          <a:latin typeface="Arial" charset="0"/>
          <a:ea typeface="新細明體"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www.youtube.com/watch?v=NwuW5BCaj-I"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 Id="rId6" Type="http://schemas.openxmlformats.org/officeDocument/2006/relationships/image" Target="../media/image40.jpg"/><Relationship Id="rId5" Type="http://schemas.openxmlformats.org/officeDocument/2006/relationships/image" Target="../media/image39.jpg"/><Relationship Id="rId4" Type="http://schemas.microsoft.com/office/2007/relationships/hdphoto" Target="../media/hdphoto1.wdp"/></Relationships>
</file>

<file path=ppt/slides/_rels/slide4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www.uidsolutions.com/barcodetimeline.html" TargetMode="External"/><Relationship Id="rId2" Type="http://schemas.openxmlformats.org/officeDocument/2006/relationships/hyperlink" Target="http://www.openmobilealliance.org/Technical/release_program/docs/MobileCodes/V1_0-20081024-A/OMA-WP-MobileCodes-20081024-A.pdf" TargetMode="External"/><Relationship Id="rId1" Type="http://schemas.openxmlformats.org/officeDocument/2006/relationships/slideLayout" Target="../slideLayouts/slideLayout2.xml"/><Relationship Id="rId4" Type="http://schemas.openxmlformats.org/officeDocument/2006/relationships/hyperlink" Target="http://www.qrreaders.net/articles/barcode-technology-timelin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US" altLang="zh-TW" dirty="0">
                <a:latin typeface="Times New Roman" pitchFamily="18" charset="0"/>
              </a:rPr>
              <a:t>ELEC6098 Electronic Commerce &amp; Mobile Commerce</a:t>
            </a:r>
          </a:p>
        </p:txBody>
      </p:sp>
      <p:sp>
        <p:nvSpPr>
          <p:cNvPr id="3075" name="Rectangle 3"/>
          <p:cNvSpPr>
            <a:spLocks noGrp="1" noChangeArrowheads="1"/>
          </p:cNvSpPr>
          <p:nvPr>
            <p:ph type="subTitle" idx="1"/>
          </p:nvPr>
        </p:nvSpPr>
        <p:spPr/>
        <p:txBody>
          <a:bodyPr/>
          <a:lstStyle/>
          <a:p>
            <a:pPr eaLnBrk="1" hangingPunct="1"/>
            <a:r>
              <a:rPr lang="en-US" altLang="zh-TW">
                <a:latin typeface="Times New Roman" pitchFamily="18" charset="0"/>
              </a:rPr>
              <a:t>Dr. Wilton Fok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0EFBA-EA45-20A7-5BD8-4C9B05B0F9F9}"/>
              </a:ext>
            </a:extLst>
          </p:cNvPr>
          <p:cNvSpPr>
            <a:spLocks noGrp="1"/>
          </p:cNvSpPr>
          <p:nvPr>
            <p:ph type="title"/>
          </p:nvPr>
        </p:nvSpPr>
        <p:spPr/>
        <p:txBody>
          <a:bodyPr/>
          <a:lstStyle/>
          <a:p>
            <a:r>
              <a:rPr lang="en-US" altLang="zh-TW" dirty="0">
                <a:latin typeface="Times New Roman" pitchFamily="18" charset="0"/>
              </a:rPr>
              <a:t>Enabling Technology: Location Base Service</a:t>
            </a:r>
            <a:endParaRPr lang="en-US" dirty="0"/>
          </a:p>
        </p:txBody>
      </p:sp>
    </p:spTree>
    <p:extLst>
      <p:ext uri="{BB962C8B-B14F-4D97-AF65-F5344CB8AC3E}">
        <p14:creationId xmlns:p14="http://schemas.microsoft.com/office/powerpoint/2010/main" val="3735257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zh-TW" sz="3200" dirty="0">
                <a:latin typeface="Times New Roman" pitchFamily="18" charset="0"/>
              </a:rPr>
              <a:t>Enabling Technology: Location Base Service</a:t>
            </a:r>
            <a:endParaRPr lang="en-US" altLang="zh-TW" sz="3200" b="1" dirty="0">
              <a:latin typeface="Times New Roman" pitchFamily="18" charset="0"/>
            </a:endParaRPr>
          </a:p>
        </p:txBody>
      </p:sp>
      <p:sp>
        <p:nvSpPr>
          <p:cNvPr id="6147" name="Rectangle 3"/>
          <p:cNvSpPr>
            <a:spLocks noGrp="1" noChangeArrowheads="1"/>
          </p:cNvSpPr>
          <p:nvPr>
            <p:ph type="body" idx="1"/>
          </p:nvPr>
        </p:nvSpPr>
        <p:spPr>
          <a:xfrm>
            <a:off x="179388" y="1125538"/>
            <a:ext cx="8964612" cy="4525962"/>
          </a:xfrm>
        </p:spPr>
        <p:txBody>
          <a:bodyPr/>
          <a:lstStyle/>
          <a:p>
            <a:pPr eaLnBrk="1" hangingPunct="1">
              <a:lnSpc>
                <a:spcPct val="90000"/>
              </a:lnSpc>
            </a:pPr>
            <a:r>
              <a:rPr lang="en-US" altLang="zh-TW" sz="2000">
                <a:latin typeface="Times New Roman" pitchFamily="18" charset="0"/>
              </a:rPr>
              <a:t>Cellular radio network is the foundation for location base services</a:t>
            </a:r>
          </a:p>
          <a:p>
            <a:pPr eaLnBrk="1" hangingPunct="1">
              <a:lnSpc>
                <a:spcPct val="90000"/>
              </a:lnSpc>
            </a:pPr>
            <a:endParaRPr lang="en-US" altLang="zh-TW" sz="2000">
              <a:latin typeface="Times New Roman" pitchFamily="18" charset="0"/>
            </a:endParaRPr>
          </a:p>
          <a:p>
            <a:pPr eaLnBrk="1" hangingPunct="1">
              <a:lnSpc>
                <a:spcPct val="90000"/>
              </a:lnSpc>
            </a:pPr>
            <a:r>
              <a:rPr lang="en-US" altLang="zh-TW" sz="2000">
                <a:latin typeface="Times New Roman" pitchFamily="18" charset="0"/>
              </a:rPr>
              <a:t>GSM is a cellular network</a:t>
            </a:r>
          </a:p>
          <a:p>
            <a:pPr lvl="1" eaLnBrk="1" hangingPunct="1">
              <a:lnSpc>
                <a:spcPct val="90000"/>
              </a:lnSpc>
            </a:pPr>
            <a:r>
              <a:rPr lang="en-US" altLang="zh-TW" sz="1800">
                <a:latin typeface="Times New Roman" pitchFamily="18" charset="0"/>
                <a:sym typeface="Wingdings" pitchFamily="2" charset="2"/>
              </a:rPr>
              <a:t> </a:t>
            </a:r>
            <a:r>
              <a:rPr lang="en-US" altLang="zh-TW" sz="1800">
                <a:latin typeface="Times New Roman" pitchFamily="18" charset="0"/>
              </a:rPr>
              <a:t>mobile phones connect to it by searching for cells in the immediate vicinity. </a:t>
            </a:r>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2700338"/>
            <a:ext cx="5489575" cy="368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zh-TW" b="1">
                <a:latin typeface="Times New Roman" pitchFamily="18" charset="0"/>
              </a:rPr>
              <a:t>GSM</a:t>
            </a:r>
          </a:p>
        </p:txBody>
      </p:sp>
      <p:sp>
        <p:nvSpPr>
          <p:cNvPr id="7171" name="Rectangle 3"/>
          <p:cNvSpPr>
            <a:spLocks noGrp="1" noChangeArrowheads="1"/>
          </p:cNvSpPr>
          <p:nvPr>
            <p:ph type="body" idx="1"/>
          </p:nvPr>
        </p:nvSpPr>
        <p:spPr/>
        <p:txBody>
          <a:bodyPr/>
          <a:lstStyle/>
          <a:p>
            <a:pPr eaLnBrk="1" hangingPunct="1">
              <a:lnSpc>
                <a:spcPct val="90000"/>
              </a:lnSpc>
            </a:pPr>
            <a:r>
              <a:rPr lang="en-US" altLang="zh-TW" sz="2400" b="1">
                <a:latin typeface="Times New Roman" pitchFamily="18" charset="0"/>
              </a:rPr>
              <a:t>GSM</a:t>
            </a:r>
            <a:r>
              <a:rPr lang="en-US" altLang="zh-TW" sz="2400">
                <a:latin typeface="Times New Roman" pitchFamily="18" charset="0"/>
              </a:rPr>
              <a:t> (</a:t>
            </a:r>
            <a:r>
              <a:rPr lang="en-US" altLang="zh-TW" sz="2400" b="1">
                <a:latin typeface="Times New Roman" pitchFamily="18" charset="0"/>
              </a:rPr>
              <a:t>Global System for Mobile Communications</a:t>
            </a:r>
            <a:r>
              <a:rPr lang="en-US" altLang="zh-TW" sz="2400">
                <a:latin typeface="Times New Roman" pitchFamily="18" charset="0"/>
              </a:rPr>
              <a:t> is/was the most popular standard for mobile telephony systems in the world. </a:t>
            </a:r>
          </a:p>
          <a:p>
            <a:pPr eaLnBrk="1" hangingPunct="1">
              <a:lnSpc>
                <a:spcPct val="90000"/>
              </a:lnSpc>
            </a:pPr>
            <a:r>
              <a:rPr lang="en-US" altLang="zh-TW" sz="2400">
                <a:latin typeface="Times New Roman" pitchFamily="18" charset="0"/>
              </a:rPr>
              <a:t>GSM is considered a 2G mobile phone system. </a:t>
            </a:r>
          </a:p>
          <a:p>
            <a:pPr eaLnBrk="1" hangingPunct="1">
              <a:lnSpc>
                <a:spcPct val="90000"/>
              </a:lnSpc>
            </a:pPr>
            <a:r>
              <a:rPr lang="en-US" altLang="zh-TW" sz="2400">
                <a:latin typeface="Times New Roman" pitchFamily="18" charset="0"/>
              </a:rPr>
              <a:t>It facilitates the wide-spread implementation of data communication applications into the system.</a:t>
            </a:r>
          </a:p>
          <a:p>
            <a:pPr eaLnBrk="1" hangingPunct="1">
              <a:lnSpc>
                <a:spcPct val="90000"/>
              </a:lnSpc>
            </a:pPr>
            <a:r>
              <a:rPr lang="en-US" altLang="zh-TW" sz="2400">
                <a:latin typeface="Times New Roman" pitchFamily="18" charset="0"/>
              </a:rPr>
              <a:t>Advantages</a:t>
            </a:r>
          </a:p>
          <a:p>
            <a:pPr lvl="1" eaLnBrk="1" hangingPunct="1">
              <a:lnSpc>
                <a:spcPct val="90000"/>
              </a:lnSpc>
            </a:pPr>
            <a:r>
              <a:rPr lang="en-US" altLang="zh-TW" sz="2000">
                <a:latin typeface="Times New Roman" pitchFamily="18" charset="0"/>
              </a:rPr>
              <a:t>Roaming</a:t>
            </a:r>
          </a:p>
          <a:p>
            <a:pPr lvl="1" eaLnBrk="1" hangingPunct="1">
              <a:lnSpc>
                <a:spcPct val="90000"/>
              </a:lnSpc>
            </a:pPr>
            <a:r>
              <a:rPr lang="en-US" altLang="zh-TW" sz="2000">
                <a:latin typeface="Times New Roman" pitchFamily="18" charset="0"/>
              </a:rPr>
              <a:t>Switch carriers without replacing phones</a:t>
            </a:r>
          </a:p>
          <a:p>
            <a:pPr lvl="1" eaLnBrk="1" hangingPunct="1">
              <a:lnSpc>
                <a:spcPct val="90000"/>
              </a:lnSpc>
            </a:pPr>
            <a:r>
              <a:rPr lang="en-US" altLang="zh-TW" sz="2000">
                <a:latin typeface="Times New Roman" pitchFamily="18" charset="0"/>
              </a:rPr>
              <a:t>Support SMS</a:t>
            </a:r>
          </a:p>
          <a:p>
            <a:pPr lvl="1" eaLnBrk="1" hangingPunct="1">
              <a:lnSpc>
                <a:spcPct val="90000"/>
              </a:lnSpc>
            </a:pPr>
            <a:r>
              <a:rPr lang="en-US" altLang="zh-TW" sz="2000">
                <a:latin typeface="Times New Roman" pitchFamily="18" charset="0"/>
              </a:rPr>
              <a:t>Support SIM Card</a:t>
            </a:r>
          </a:p>
          <a:p>
            <a:pPr lvl="1" eaLnBrk="1" hangingPunct="1">
              <a:lnSpc>
                <a:spcPct val="90000"/>
              </a:lnSpc>
            </a:pPr>
            <a:r>
              <a:rPr lang="en-US" altLang="zh-TW" sz="2000">
                <a:latin typeface="Times New Roman" pitchFamily="18" charset="0"/>
              </a:rPr>
              <a:t>Support a worldwide emergency telephone number feature 112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tLang="zh-TW" sz="4000" b="1">
                <a:latin typeface="Times New Roman" pitchFamily="18" charset="0"/>
              </a:rPr>
              <a:t>SIM Card in GSM</a:t>
            </a:r>
          </a:p>
        </p:txBody>
      </p:sp>
      <p:sp>
        <p:nvSpPr>
          <p:cNvPr id="8195" name="Rectangle 3"/>
          <p:cNvSpPr>
            <a:spLocks noGrp="1" noChangeArrowheads="1"/>
          </p:cNvSpPr>
          <p:nvPr>
            <p:ph type="body" idx="1"/>
          </p:nvPr>
        </p:nvSpPr>
        <p:spPr/>
        <p:txBody>
          <a:bodyPr/>
          <a:lstStyle/>
          <a:p>
            <a:pPr eaLnBrk="1" hangingPunct="1">
              <a:lnSpc>
                <a:spcPct val="90000"/>
              </a:lnSpc>
            </a:pPr>
            <a:r>
              <a:rPr lang="en-US" altLang="zh-TW" sz="2800" b="1">
                <a:latin typeface="Times New Roman" pitchFamily="18" charset="0"/>
              </a:rPr>
              <a:t>SIM Card = Subscriber Identity Module </a:t>
            </a:r>
          </a:p>
          <a:p>
            <a:pPr eaLnBrk="1" hangingPunct="1">
              <a:lnSpc>
                <a:spcPct val="90000"/>
              </a:lnSpc>
            </a:pPr>
            <a:r>
              <a:rPr lang="en-US" altLang="zh-TW" sz="2800">
                <a:latin typeface="Times New Roman" pitchFamily="18" charset="0"/>
              </a:rPr>
              <a:t>A detachable smart card containing the user's subscription information and phone book. </a:t>
            </a:r>
          </a:p>
          <a:p>
            <a:pPr eaLnBrk="1" hangingPunct="1">
              <a:lnSpc>
                <a:spcPct val="90000"/>
              </a:lnSpc>
            </a:pPr>
            <a:r>
              <a:rPr lang="en-US" altLang="zh-TW" sz="2800">
                <a:latin typeface="Times New Roman" pitchFamily="18" charset="0"/>
              </a:rPr>
              <a:t>This allows the user to retain his or her information after switching handsets.</a:t>
            </a:r>
          </a:p>
          <a:p>
            <a:pPr eaLnBrk="1" hangingPunct="1">
              <a:lnSpc>
                <a:spcPct val="90000"/>
              </a:lnSpc>
            </a:pPr>
            <a:r>
              <a:rPr lang="en-US" altLang="zh-TW" sz="2800">
                <a:latin typeface="Times New Roman" pitchFamily="18" charset="0"/>
              </a:rPr>
              <a:t>User can also change operators while retaining the handset simply by changing the SIM. </a:t>
            </a:r>
          </a:p>
          <a:p>
            <a:pPr eaLnBrk="1" hangingPunct="1">
              <a:lnSpc>
                <a:spcPct val="90000"/>
              </a:lnSpc>
            </a:pPr>
            <a:r>
              <a:rPr lang="en-US" altLang="zh-TW" sz="2800">
                <a:latin typeface="Times New Roman" pitchFamily="18" charset="0"/>
              </a:rPr>
              <a:t>Some operators will block this by allowing the phone to use only a single SIM</a:t>
            </a:r>
          </a:p>
          <a:p>
            <a:pPr lvl="1" eaLnBrk="1" hangingPunct="1">
              <a:lnSpc>
                <a:spcPct val="90000"/>
              </a:lnSpc>
            </a:pPr>
            <a:r>
              <a:rPr lang="en-US" altLang="zh-TW" sz="2400">
                <a:latin typeface="Times New Roman" pitchFamily="18" charset="0"/>
                <a:sym typeface="Wingdings" pitchFamily="2" charset="2"/>
              </a:rPr>
              <a:t></a:t>
            </a:r>
            <a:r>
              <a:rPr lang="en-US" altLang="zh-TW" sz="2400">
                <a:latin typeface="Times New Roman" pitchFamily="18" charset="0"/>
              </a:rPr>
              <a:t>SIM locking</a:t>
            </a:r>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7238" y="3424238"/>
            <a:ext cx="9525"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7238" y="3424238"/>
            <a:ext cx="9525"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7238" y="3424238"/>
            <a:ext cx="9525"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7238" y="3424238"/>
            <a:ext cx="9525" cy="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9925" y="5572125"/>
            <a:ext cx="128587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zh-TW" b="1">
                <a:latin typeface="Times New Roman" pitchFamily="18" charset="0"/>
              </a:rPr>
              <a:t>SIM locking</a:t>
            </a:r>
          </a:p>
        </p:txBody>
      </p:sp>
      <p:sp>
        <p:nvSpPr>
          <p:cNvPr id="9219" name="Rectangle 3"/>
          <p:cNvSpPr>
            <a:spLocks noGrp="1" noChangeArrowheads="1"/>
          </p:cNvSpPr>
          <p:nvPr>
            <p:ph type="body" idx="1"/>
          </p:nvPr>
        </p:nvSpPr>
        <p:spPr>
          <a:xfrm>
            <a:off x="457200" y="1052513"/>
            <a:ext cx="4546600" cy="4525962"/>
          </a:xfrm>
        </p:spPr>
        <p:txBody>
          <a:bodyPr/>
          <a:lstStyle/>
          <a:p>
            <a:pPr eaLnBrk="1" hangingPunct="1">
              <a:lnSpc>
                <a:spcPct val="80000"/>
              </a:lnSpc>
            </a:pPr>
            <a:r>
              <a:rPr lang="en-US" altLang="zh-TW" sz="2000">
                <a:latin typeface="Times New Roman" pitchFamily="18" charset="0"/>
              </a:rPr>
              <a:t>Some mobile phone operators restrict handsets that they sell for use with their own network.</a:t>
            </a:r>
          </a:p>
          <a:p>
            <a:pPr eaLnBrk="1" hangingPunct="1">
              <a:lnSpc>
                <a:spcPct val="80000"/>
              </a:lnSpc>
            </a:pPr>
            <a:r>
              <a:rPr lang="en-US" altLang="zh-TW" sz="2000">
                <a:latin typeface="Times New Roman" pitchFamily="18" charset="0"/>
              </a:rPr>
              <a:t>Implemented by a software feature of the phone.</a:t>
            </a:r>
          </a:p>
          <a:p>
            <a:pPr lvl="1" eaLnBrk="1" hangingPunct="1">
              <a:lnSpc>
                <a:spcPct val="80000"/>
              </a:lnSpc>
            </a:pPr>
            <a:r>
              <a:rPr lang="en-US" altLang="zh-TW" sz="1800">
                <a:latin typeface="Times New Roman" pitchFamily="18" charset="0"/>
              </a:rPr>
              <a:t>Because the purchase price of the mobile phone to the consumer is typically subsidized with revenue from subscriptions, operators must recoup this investment before a subscriber terminates service.</a:t>
            </a:r>
          </a:p>
          <a:p>
            <a:pPr eaLnBrk="1" hangingPunct="1">
              <a:lnSpc>
                <a:spcPct val="80000"/>
              </a:lnSpc>
            </a:pPr>
            <a:endParaRPr lang="en-US" altLang="zh-TW" sz="2000">
              <a:latin typeface="Times New Roman" pitchFamily="18" charset="0"/>
            </a:endParaRPr>
          </a:p>
          <a:p>
            <a:pPr eaLnBrk="1" hangingPunct="1">
              <a:lnSpc>
                <a:spcPct val="80000"/>
              </a:lnSpc>
            </a:pPr>
            <a:r>
              <a:rPr lang="en-US" altLang="zh-TW" sz="2000">
                <a:latin typeface="Times New Roman" pitchFamily="18" charset="0"/>
              </a:rPr>
              <a:t>Ways to unlock the SIM</a:t>
            </a:r>
          </a:p>
          <a:p>
            <a:pPr lvl="1" eaLnBrk="1" hangingPunct="1">
              <a:lnSpc>
                <a:spcPct val="80000"/>
              </a:lnSpc>
            </a:pPr>
            <a:r>
              <a:rPr lang="en-US" altLang="zh-TW" sz="1800">
                <a:latin typeface="Times New Roman" pitchFamily="18" charset="0"/>
              </a:rPr>
              <a:t>Contact the provider to remove the lock for a fee, </a:t>
            </a:r>
          </a:p>
          <a:p>
            <a:pPr lvl="1" eaLnBrk="1" hangingPunct="1">
              <a:lnSpc>
                <a:spcPct val="80000"/>
              </a:lnSpc>
            </a:pPr>
            <a:r>
              <a:rPr lang="en-US" altLang="zh-TW" sz="1800">
                <a:latin typeface="Times New Roman" pitchFamily="18" charset="0"/>
              </a:rPr>
              <a:t>utilize private services to remove the Lock, or </a:t>
            </a:r>
          </a:p>
          <a:p>
            <a:pPr lvl="1" eaLnBrk="1" hangingPunct="1">
              <a:lnSpc>
                <a:spcPct val="80000"/>
              </a:lnSpc>
            </a:pPr>
            <a:r>
              <a:rPr lang="en-US" altLang="zh-TW" sz="1800">
                <a:latin typeface="Times New Roman" pitchFamily="18" charset="0"/>
              </a:rPr>
              <a:t>Make use of free or fee-based software and websites to unlock the handset themselves.</a:t>
            </a:r>
          </a:p>
          <a:p>
            <a:pPr lvl="1" eaLnBrk="1" hangingPunct="1">
              <a:lnSpc>
                <a:spcPct val="80000"/>
              </a:lnSpc>
            </a:pPr>
            <a:endParaRPr lang="en-US" altLang="zh-TW" sz="1800">
              <a:latin typeface="Times New Roman" pitchFamily="18" charset="0"/>
            </a:endParaRPr>
          </a:p>
          <a:p>
            <a:pPr lvl="1" eaLnBrk="1" hangingPunct="1">
              <a:lnSpc>
                <a:spcPct val="80000"/>
              </a:lnSpc>
            </a:pPr>
            <a:r>
              <a:rPr lang="en-US" altLang="zh-TW" sz="1800">
                <a:latin typeface="Times New Roman" pitchFamily="18" charset="0"/>
              </a:rPr>
              <a:t>More shown on youtube</a:t>
            </a:r>
          </a:p>
          <a:p>
            <a:pPr eaLnBrk="1" hangingPunct="1">
              <a:lnSpc>
                <a:spcPct val="80000"/>
              </a:lnSpc>
            </a:pPr>
            <a:endParaRPr lang="en-US" altLang="zh-TW" sz="2000" b="1">
              <a:latin typeface="Times New Roman" pitchFamily="18" charset="0"/>
            </a:endParaRPr>
          </a:p>
        </p:txBody>
      </p:sp>
      <p:pic>
        <p:nvPicPr>
          <p:cNvPr id="922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2181225"/>
            <a:ext cx="3048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688" y="765175"/>
            <a:ext cx="1368425"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zh-TW">
                <a:latin typeface="Times New Roman" pitchFamily="18" charset="0"/>
              </a:rPr>
              <a:t>GSM improvement</a:t>
            </a:r>
          </a:p>
        </p:txBody>
      </p:sp>
      <p:sp>
        <p:nvSpPr>
          <p:cNvPr id="10243" name="Rectangle 3"/>
          <p:cNvSpPr>
            <a:spLocks noGrp="1" noChangeArrowheads="1"/>
          </p:cNvSpPr>
          <p:nvPr>
            <p:ph type="body" idx="1"/>
          </p:nvPr>
        </p:nvSpPr>
        <p:spPr/>
        <p:txBody>
          <a:bodyPr/>
          <a:lstStyle/>
          <a:p>
            <a:pPr eaLnBrk="1" hangingPunct="1"/>
            <a:r>
              <a:rPr lang="en-US" altLang="zh-TW">
                <a:latin typeface="Times New Roman" pitchFamily="18" charset="0"/>
              </a:rPr>
              <a:t>1997 Introduce of  General Packet Radio Service (GPRS)</a:t>
            </a:r>
          </a:p>
          <a:p>
            <a:pPr eaLnBrk="1" hangingPunct="1"/>
            <a:r>
              <a:rPr lang="en-US" altLang="zh-TW">
                <a:latin typeface="Times New Roman" pitchFamily="18" charset="0"/>
              </a:rPr>
              <a:t>1999 Introduce higher speed data transmission using Enhanced Data Rates for GSM Evolution (EDGE).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zh-TW" sz="4000" b="1">
                <a:latin typeface="Times New Roman" pitchFamily="18" charset="0"/>
              </a:rPr>
              <a:t>Network structure</a:t>
            </a:r>
          </a:p>
        </p:txBody>
      </p:sp>
      <p:sp>
        <p:nvSpPr>
          <p:cNvPr id="11267" name="Rectangle 3"/>
          <p:cNvSpPr>
            <a:spLocks noGrp="1" noChangeArrowheads="1"/>
          </p:cNvSpPr>
          <p:nvPr>
            <p:ph type="body" idx="1"/>
          </p:nvPr>
        </p:nvSpPr>
        <p:spPr>
          <a:xfrm>
            <a:off x="457200" y="1628775"/>
            <a:ext cx="8229600" cy="4525963"/>
          </a:xfrm>
        </p:spPr>
        <p:txBody>
          <a:bodyPr/>
          <a:lstStyle/>
          <a:p>
            <a:pPr eaLnBrk="1" hangingPunct="1"/>
            <a:r>
              <a:rPr lang="en-US" altLang="zh-TW" sz="2800">
                <a:latin typeface="Times New Roman" pitchFamily="18" charset="0"/>
              </a:rPr>
              <a:t>The structure of a GSM network:</a:t>
            </a:r>
          </a:p>
          <a:p>
            <a:pPr lvl="1" eaLnBrk="1" hangingPunct="1"/>
            <a:r>
              <a:rPr lang="en-US" altLang="zh-TW" sz="2400">
                <a:latin typeface="Times New Roman" pitchFamily="18" charset="0"/>
              </a:rPr>
              <a:t>Base Station Subsystem </a:t>
            </a:r>
          </a:p>
          <a:p>
            <a:pPr lvl="2" eaLnBrk="1" hangingPunct="1"/>
            <a:r>
              <a:rPr lang="en-US" altLang="zh-TW" sz="2000">
                <a:latin typeface="Times New Roman" pitchFamily="18" charset="0"/>
              </a:rPr>
              <a:t>base stations and their controllers</a:t>
            </a:r>
          </a:p>
          <a:p>
            <a:pPr lvl="1" eaLnBrk="1" hangingPunct="1"/>
            <a:r>
              <a:rPr lang="en-US" altLang="zh-TW" sz="2400">
                <a:latin typeface="Times New Roman" pitchFamily="18" charset="0"/>
              </a:rPr>
              <a:t>Network and Switching Subsystem</a:t>
            </a:r>
          </a:p>
          <a:p>
            <a:pPr lvl="2" eaLnBrk="1" hangingPunct="1"/>
            <a:r>
              <a:rPr lang="en-US" altLang="zh-TW" sz="2000">
                <a:latin typeface="Times New Roman" pitchFamily="18" charset="0"/>
              </a:rPr>
              <a:t>part of the network most similar to a fixed network). This is sometimes also just called the core network. </a:t>
            </a:r>
          </a:p>
          <a:p>
            <a:pPr lvl="1" eaLnBrk="1" hangingPunct="1"/>
            <a:r>
              <a:rPr lang="en-US" altLang="zh-TW" sz="2400">
                <a:latin typeface="Times New Roman" pitchFamily="18" charset="0"/>
              </a:rPr>
              <a:t>GPRS Core Network </a:t>
            </a:r>
          </a:p>
          <a:p>
            <a:pPr lvl="2" eaLnBrk="1" hangingPunct="1"/>
            <a:r>
              <a:rPr lang="en-US" altLang="zh-TW" sz="2000">
                <a:latin typeface="Times New Roman" pitchFamily="18" charset="0"/>
              </a:rPr>
              <a:t>the optional part which allows packet based Internet connections</a:t>
            </a:r>
          </a:p>
          <a:p>
            <a:pPr lvl="1" eaLnBrk="1" hangingPunct="1"/>
            <a:r>
              <a:rPr lang="en-US" altLang="zh-TW" sz="2400">
                <a:latin typeface="Times New Roman" pitchFamily="18" charset="0"/>
              </a:rPr>
              <a:t>Operations support system (OSS) </a:t>
            </a:r>
          </a:p>
          <a:p>
            <a:pPr lvl="2" eaLnBrk="1" hangingPunct="1"/>
            <a:r>
              <a:rPr lang="en-US" altLang="zh-TW" sz="2000">
                <a:latin typeface="Times New Roman" pitchFamily="18" charset="0"/>
              </a:rPr>
              <a:t>for maintenance of the network.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TW" sz="4000" b="1">
                <a:latin typeface="Times New Roman" pitchFamily="18" charset="0"/>
              </a:rPr>
              <a:t>Network structure</a:t>
            </a:r>
          </a:p>
        </p:txBody>
      </p:sp>
      <p:sp>
        <p:nvSpPr>
          <p:cNvPr id="12291" name="Rectangle 3"/>
          <p:cNvSpPr>
            <a:spLocks noGrp="1" noChangeArrowheads="1"/>
          </p:cNvSpPr>
          <p:nvPr>
            <p:ph type="body" idx="1"/>
          </p:nvPr>
        </p:nvSpPr>
        <p:spPr>
          <a:xfrm>
            <a:off x="457200" y="981075"/>
            <a:ext cx="8229600" cy="4525963"/>
          </a:xfrm>
        </p:spPr>
        <p:txBody>
          <a:bodyPr/>
          <a:lstStyle/>
          <a:p>
            <a:pPr eaLnBrk="1" hangingPunct="1"/>
            <a:r>
              <a:rPr lang="en-US" altLang="zh-TW" sz="1800">
                <a:latin typeface="Times New Roman" pitchFamily="18" charset="0"/>
              </a:rPr>
              <a:t>Base Station Subsystem </a:t>
            </a:r>
          </a:p>
          <a:p>
            <a:pPr eaLnBrk="1" hangingPunct="1"/>
            <a:r>
              <a:rPr lang="en-US" altLang="zh-TW" sz="1800">
                <a:latin typeface="Times New Roman" pitchFamily="18" charset="0"/>
              </a:rPr>
              <a:t>Network and Switching Subsystem</a:t>
            </a:r>
          </a:p>
          <a:p>
            <a:pPr eaLnBrk="1" hangingPunct="1"/>
            <a:r>
              <a:rPr lang="en-US" altLang="zh-TW" sz="1800">
                <a:latin typeface="Times New Roman" pitchFamily="18" charset="0"/>
              </a:rPr>
              <a:t>GPRS Core Network </a:t>
            </a:r>
          </a:p>
          <a:p>
            <a:pPr eaLnBrk="1" hangingPunct="1"/>
            <a:r>
              <a:rPr lang="en-US" altLang="zh-TW" sz="1800">
                <a:latin typeface="Times New Roman" pitchFamily="18" charset="0"/>
              </a:rPr>
              <a:t>Operations support system (OSS) </a:t>
            </a:r>
          </a:p>
          <a:p>
            <a:pPr eaLnBrk="1" hangingPunct="1"/>
            <a:endParaRPr lang="en-US" altLang="zh-TW" sz="1800">
              <a:latin typeface="Times New Roman" pitchFamily="18" charset="0"/>
            </a:endParaRPr>
          </a:p>
        </p:txBody>
      </p:sp>
      <p:pic>
        <p:nvPicPr>
          <p:cNvPr id="12292" name="Picture 8" descr="1000px-Gsm_structur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638" y="2317750"/>
            <a:ext cx="6983412"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AutoShape 9"/>
          <p:cNvSpPr>
            <a:spLocks noChangeArrowheads="1"/>
          </p:cNvSpPr>
          <p:nvPr/>
        </p:nvSpPr>
        <p:spPr bwMode="auto">
          <a:xfrm>
            <a:off x="3203575" y="5157788"/>
            <a:ext cx="1150938" cy="431800"/>
          </a:xfrm>
          <a:prstGeom prst="hexagon">
            <a:avLst>
              <a:gd name="adj" fmla="val 66636"/>
              <a:gd name="vf" fmla="val 11547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
        <p:nvSpPr>
          <p:cNvPr id="12294" name="AutoShape 11"/>
          <p:cNvSpPr>
            <a:spLocks noChangeArrowheads="1"/>
          </p:cNvSpPr>
          <p:nvPr/>
        </p:nvSpPr>
        <p:spPr bwMode="auto">
          <a:xfrm>
            <a:off x="3203575" y="3860800"/>
            <a:ext cx="1150938" cy="431800"/>
          </a:xfrm>
          <a:prstGeom prst="hexagon">
            <a:avLst>
              <a:gd name="adj" fmla="val 66636"/>
              <a:gd name="vf" fmla="val 11547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zh-TW" sz="4000">
                <a:latin typeface="Times New Roman" pitchFamily="18" charset="0"/>
              </a:rPr>
              <a:t>Cell sizes and coverage</a:t>
            </a:r>
          </a:p>
        </p:txBody>
      </p:sp>
      <p:sp>
        <p:nvSpPr>
          <p:cNvPr id="13315" name="Rectangle 3"/>
          <p:cNvSpPr>
            <a:spLocks noGrp="1" noChangeArrowheads="1"/>
          </p:cNvSpPr>
          <p:nvPr>
            <p:ph type="body" idx="1"/>
          </p:nvPr>
        </p:nvSpPr>
        <p:spPr/>
        <p:txBody>
          <a:bodyPr/>
          <a:lstStyle/>
          <a:p>
            <a:pPr eaLnBrk="1" hangingPunct="1"/>
            <a:r>
              <a:rPr lang="en-US" altLang="zh-TW">
                <a:latin typeface="Times New Roman" pitchFamily="18" charset="0"/>
              </a:rPr>
              <a:t>There are 5 different cell sizes in a GSM network</a:t>
            </a:r>
          </a:p>
          <a:p>
            <a:pPr lvl="1" eaLnBrk="1" hangingPunct="1"/>
            <a:r>
              <a:rPr lang="en-US" altLang="zh-TW">
                <a:latin typeface="Times New Roman" pitchFamily="18" charset="0"/>
              </a:rPr>
              <a:t>Macro, </a:t>
            </a:r>
          </a:p>
          <a:p>
            <a:pPr lvl="1" eaLnBrk="1" hangingPunct="1"/>
            <a:r>
              <a:rPr lang="en-US" altLang="zh-TW">
                <a:latin typeface="Times New Roman" pitchFamily="18" charset="0"/>
              </a:rPr>
              <a:t>Micro, </a:t>
            </a:r>
          </a:p>
          <a:p>
            <a:pPr lvl="1" eaLnBrk="1" hangingPunct="1"/>
            <a:r>
              <a:rPr lang="en-US" altLang="zh-TW">
                <a:latin typeface="Times New Roman" pitchFamily="18" charset="0"/>
              </a:rPr>
              <a:t>Pico, </a:t>
            </a:r>
          </a:p>
          <a:p>
            <a:pPr lvl="1" eaLnBrk="1" hangingPunct="1"/>
            <a:r>
              <a:rPr lang="en-US" altLang="zh-TW">
                <a:latin typeface="Times New Roman" pitchFamily="18" charset="0"/>
              </a:rPr>
              <a:t>Femto and </a:t>
            </a:r>
          </a:p>
          <a:p>
            <a:pPr lvl="1" eaLnBrk="1" hangingPunct="1"/>
            <a:r>
              <a:rPr lang="en-US" altLang="zh-TW">
                <a:latin typeface="Times New Roman" pitchFamily="18" charset="0"/>
              </a:rPr>
              <a:t>Umbrella cells. </a:t>
            </a:r>
          </a:p>
          <a:p>
            <a:pPr eaLnBrk="1" hangingPunct="1"/>
            <a:endParaRPr lang="en-US" altLang="zh-TW">
              <a:latin typeface="Times New Roman" pitchFamily="18" charset="0"/>
            </a:endParaRPr>
          </a:p>
          <a:p>
            <a:pPr eaLnBrk="1" hangingPunct="1"/>
            <a:endParaRPr lang="en-US" altLang="zh-TW" b="1">
              <a:latin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zh-TW">
                <a:latin typeface="Times New Roman" pitchFamily="18" charset="0"/>
              </a:rPr>
              <a:t>Cell sizes and coverage</a:t>
            </a:r>
          </a:p>
        </p:txBody>
      </p:sp>
      <p:sp>
        <p:nvSpPr>
          <p:cNvPr id="14339" name="Rectangle 3"/>
          <p:cNvSpPr>
            <a:spLocks noGrp="1" noChangeArrowheads="1"/>
          </p:cNvSpPr>
          <p:nvPr>
            <p:ph type="body" idx="1"/>
          </p:nvPr>
        </p:nvSpPr>
        <p:spPr>
          <a:xfrm>
            <a:off x="457200" y="1484313"/>
            <a:ext cx="4762500" cy="4525962"/>
          </a:xfrm>
        </p:spPr>
        <p:txBody>
          <a:bodyPr/>
          <a:lstStyle/>
          <a:p>
            <a:pPr eaLnBrk="1" hangingPunct="1">
              <a:lnSpc>
                <a:spcPct val="90000"/>
              </a:lnSpc>
            </a:pPr>
            <a:r>
              <a:rPr lang="en-US" altLang="zh-TW" sz="2400">
                <a:latin typeface="Times New Roman" pitchFamily="18" charset="0"/>
              </a:rPr>
              <a:t>The coverage area of each cell varies according to the implementation environment. </a:t>
            </a:r>
          </a:p>
          <a:p>
            <a:pPr lvl="1" eaLnBrk="1" hangingPunct="1">
              <a:lnSpc>
                <a:spcPct val="90000"/>
              </a:lnSpc>
            </a:pPr>
            <a:r>
              <a:rPr lang="en-US" altLang="zh-TW" sz="2000">
                <a:latin typeface="Times New Roman" pitchFamily="18" charset="0"/>
              </a:rPr>
              <a:t>Macro cells</a:t>
            </a:r>
          </a:p>
          <a:p>
            <a:pPr lvl="2" eaLnBrk="1" hangingPunct="1">
              <a:lnSpc>
                <a:spcPct val="90000"/>
              </a:lnSpc>
            </a:pPr>
            <a:r>
              <a:rPr lang="en-US" altLang="zh-TW" sz="1800">
                <a:latin typeface="Times New Roman" pitchFamily="18" charset="0"/>
              </a:rPr>
              <a:t>Cells where the base station antenna is installed on a mast or a building above average roof top level. </a:t>
            </a:r>
          </a:p>
          <a:p>
            <a:pPr lvl="1" eaLnBrk="1" hangingPunct="1">
              <a:lnSpc>
                <a:spcPct val="90000"/>
              </a:lnSpc>
            </a:pPr>
            <a:r>
              <a:rPr lang="en-US" altLang="zh-TW" sz="2000">
                <a:latin typeface="Times New Roman" pitchFamily="18" charset="0"/>
              </a:rPr>
              <a:t>Micro cells</a:t>
            </a:r>
          </a:p>
          <a:p>
            <a:pPr lvl="2" eaLnBrk="1" hangingPunct="1">
              <a:lnSpc>
                <a:spcPct val="90000"/>
              </a:lnSpc>
            </a:pPr>
            <a:r>
              <a:rPr lang="en-US" altLang="zh-TW" sz="1800">
                <a:latin typeface="Times New Roman" pitchFamily="18" charset="0"/>
              </a:rPr>
              <a:t>Those antenna height is under average roof top level; they are typically used in urban areas. </a:t>
            </a:r>
          </a:p>
        </p:txBody>
      </p:sp>
      <p:pic>
        <p:nvPicPr>
          <p:cNvPr id="1434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4200" y="1279525"/>
            <a:ext cx="2147888"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063" y="3860800"/>
            <a:ext cx="2479675" cy="248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200" y="5084763"/>
            <a:ext cx="27813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zh-TW" sz="4000">
                <a:latin typeface="Times New Roman" pitchFamily="18" charset="0"/>
              </a:rPr>
              <a:t>Cell sizes and coverage</a:t>
            </a:r>
          </a:p>
        </p:txBody>
      </p:sp>
      <p:sp>
        <p:nvSpPr>
          <p:cNvPr id="15363" name="Rectangle 3"/>
          <p:cNvSpPr>
            <a:spLocks noGrp="1" noChangeArrowheads="1"/>
          </p:cNvSpPr>
          <p:nvPr>
            <p:ph type="body" idx="1"/>
          </p:nvPr>
        </p:nvSpPr>
        <p:spPr>
          <a:xfrm>
            <a:off x="-36513" y="1279525"/>
            <a:ext cx="5986463" cy="4525963"/>
          </a:xfrm>
        </p:spPr>
        <p:txBody>
          <a:bodyPr/>
          <a:lstStyle/>
          <a:p>
            <a:pPr lvl="1" eaLnBrk="1" hangingPunct="1">
              <a:lnSpc>
                <a:spcPct val="90000"/>
              </a:lnSpc>
            </a:pPr>
            <a:r>
              <a:rPr lang="en-US" altLang="zh-TW" sz="2000">
                <a:latin typeface="Times New Roman" pitchFamily="18" charset="0"/>
              </a:rPr>
              <a:t>Picocells</a:t>
            </a:r>
          </a:p>
          <a:p>
            <a:pPr lvl="2" eaLnBrk="1" hangingPunct="1">
              <a:lnSpc>
                <a:spcPct val="90000"/>
              </a:lnSpc>
            </a:pPr>
            <a:r>
              <a:rPr lang="en-US" altLang="zh-TW" sz="1800">
                <a:latin typeface="Times New Roman" pitchFamily="18" charset="0"/>
              </a:rPr>
              <a:t>Small cells whose coverage diameter is a few dozen metres; they are mainly used indoors. </a:t>
            </a:r>
          </a:p>
          <a:p>
            <a:pPr lvl="1" eaLnBrk="1" hangingPunct="1">
              <a:lnSpc>
                <a:spcPct val="90000"/>
              </a:lnSpc>
            </a:pPr>
            <a:r>
              <a:rPr lang="en-US" altLang="zh-TW" sz="2000">
                <a:latin typeface="Times New Roman" pitchFamily="18" charset="0"/>
              </a:rPr>
              <a:t>Femtocells</a:t>
            </a:r>
          </a:p>
          <a:p>
            <a:pPr lvl="2" eaLnBrk="1" hangingPunct="1">
              <a:lnSpc>
                <a:spcPct val="90000"/>
              </a:lnSpc>
            </a:pPr>
            <a:r>
              <a:rPr lang="en-US" altLang="zh-TW" sz="1800">
                <a:latin typeface="Times New Roman" pitchFamily="18" charset="0"/>
              </a:rPr>
              <a:t>Cells designed for use in residential or small business environments and connect to the service provider’s network via a broadband internet connection. </a:t>
            </a:r>
          </a:p>
          <a:p>
            <a:pPr lvl="1" eaLnBrk="1" hangingPunct="1">
              <a:lnSpc>
                <a:spcPct val="90000"/>
              </a:lnSpc>
            </a:pPr>
            <a:r>
              <a:rPr lang="en-US" altLang="zh-TW" sz="2000">
                <a:latin typeface="Times New Roman" pitchFamily="18" charset="0"/>
              </a:rPr>
              <a:t>Umbrella cells</a:t>
            </a:r>
          </a:p>
          <a:p>
            <a:pPr lvl="2" eaLnBrk="1" hangingPunct="1">
              <a:lnSpc>
                <a:spcPct val="90000"/>
              </a:lnSpc>
            </a:pPr>
            <a:r>
              <a:rPr lang="en-US" altLang="zh-TW" sz="1800">
                <a:latin typeface="Times New Roman" pitchFamily="18" charset="0"/>
              </a:rPr>
              <a:t>Used to cover shadowed regions of smaller cells and fill in gaps in coverage between those cells.</a:t>
            </a:r>
          </a:p>
        </p:txBody>
      </p:sp>
      <p:pic>
        <p:nvPicPr>
          <p:cNvPr id="153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4876800"/>
            <a:ext cx="4176712"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7050" y="4511675"/>
            <a:ext cx="16843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6"/>
          <p:cNvSpPr>
            <a:spLocks noChangeArrowheads="1"/>
          </p:cNvSpPr>
          <p:nvPr/>
        </p:nvSpPr>
        <p:spPr bwMode="auto">
          <a:xfrm>
            <a:off x="6877050" y="4221163"/>
            <a:ext cx="1289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TW"/>
              <a:t>Femtocells</a:t>
            </a:r>
          </a:p>
        </p:txBody>
      </p:sp>
      <p:pic>
        <p:nvPicPr>
          <p:cNvPr id="1536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2038" y="981075"/>
            <a:ext cx="2822575" cy="35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7050" y="4076700"/>
            <a:ext cx="16843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TW">
                <a:latin typeface="Times New Roman" pitchFamily="18" charset="0"/>
              </a:rPr>
              <a:t>Cell sizes and coverage</a:t>
            </a:r>
          </a:p>
        </p:txBody>
      </p:sp>
      <p:sp>
        <p:nvSpPr>
          <p:cNvPr id="16387" name="Rectangle 3"/>
          <p:cNvSpPr>
            <a:spLocks noGrp="1" noChangeArrowheads="1"/>
          </p:cNvSpPr>
          <p:nvPr>
            <p:ph type="body" idx="1"/>
          </p:nvPr>
        </p:nvSpPr>
        <p:spPr>
          <a:xfrm>
            <a:off x="107950" y="1600200"/>
            <a:ext cx="4978400" cy="4525963"/>
          </a:xfrm>
        </p:spPr>
        <p:txBody>
          <a:bodyPr/>
          <a:lstStyle/>
          <a:p>
            <a:pPr eaLnBrk="1" hangingPunct="1"/>
            <a:r>
              <a:rPr lang="en-US" altLang="zh-TW">
                <a:latin typeface="Times New Roman" pitchFamily="18" charset="0"/>
              </a:rPr>
              <a:t>Cell horizontal radius varies depending on:</a:t>
            </a:r>
          </a:p>
          <a:p>
            <a:pPr lvl="2" eaLnBrk="1" hangingPunct="1"/>
            <a:r>
              <a:rPr lang="en-US" altLang="zh-TW">
                <a:latin typeface="Times New Roman" pitchFamily="18" charset="0"/>
              </a:rPr>
              <a:t>antenna height, </a:t>
            </a:r>
          </a:p>
          <a:p>
            <a:pPr lvl="2" eaLnBrk="1" hangingPunct="1"/>
            <a:r>
              <a:rPr lang="en-US" altLang="zh-TW">
                <a:latin typeface="Times New Roman" pitchFamily="18" charset="0"/>
              </a:rPr>
              <a:t>antenna gain</a:t>
            </a:r>
          </a:p>
          <a:p>
            <a:pPr lvl="1" eaLnBrk="1" hangingPunct="1"/>
            <a:r>
              <a:rPr lang="en-US" altLang="zh-TW">
                <a:latin typeface="Times New Roman" pitchFamily="18" charset="0"/>
              </a:rPr>
              <a:t>propagation conditions from a 300m -35km</a:t>
            </a:r>
          </a:p>
          <a:p>
            <a:pPr lvl="1" eaLnBrk="1" hangingPunct="1"/>
            <a:endParaRPr lang="en-US" altLang="zh-TW">
              <a:latin typeface="Times New Roman" pitchFamily="18" charset="0"/>
            </a:endParaRPr>
          </a:p>
        </p:txBody>
      </p:sp>
      <p:pic>
        <p:nvPicPr>
          <p:cNvPr id="16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538" y="3951288"/>
            <a:ext cx="3816350" cy="264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zh-TW" sz="4000">
                <a:latin typeface="Times New Roman" pitchFamily="18" charset="0"/>
              </a:rPr>
              <a:t>Cell sizes and coverage</a:t>
            </a:r>
          </a:p>
        </p:txBody>
      </p:sp>
      <p:sp>
        <p:nvSpPr>
          <p:cNvPr id="17411" name="Rectangle 3"/>
          <p:cNvSpPr>
            <a:spLocks noGrp="1" noChangeArrowheads="1"/>
          </p:cNvSpPr>
          <p:nvPr>
            <p:ph type="body" idx="1"/>
          </p:nvPr>
        </p:nvSpPr>
        <p:spPr>
          <a:xfrm>
            <a:off x="323850" y="1628775"/>
            <a:ext cx="5040313" cy="4525963"/>
          </a:xfrm>
        </p:spPr>
        <p:txBody>
          <a:bodyPr/>
          <a:lstStyle/>
          <a:p>
            <a:pPr eaLnBrk="1" hangingPunct="1">
              <a:lnSpc>
                <a:spcPct val="80000"/>
              </a:lnSpc>
            </a:pPr>
            <a:r>
              <a:rPr lang="en-US" altLang="zh-TW" sz="2800">
                <a:latin typeface="Times New Roman" pitchFamily="18" charset="0"/>
              </a:rPr>
              <a:t>Indoor coverage is also supported by</a:t>
            </a:r>
          </a:p>
          <a:p>
            <a:pPr lvl="1" eaLnBrk="1" hangingPunct="1">
              <a:lnSpc>
                <a:spcPct val="80000"/>
              </a:lnSpc>
            </a:pPr>
            <a:r>
              <a:rPr lang="en-US" altLang="zh-TW" sz="2400">
                <a:latin typeface="Times New Roman" pitchFamily="18" charset="0"/>
              </a:rPr>
              <a:t> indoor picocell base station, or</a:t>
            </a:r>
          </a:p>
          <a:p>
            <a:pPr lvl="1" eaLnBrk="1" hangingPunct="1">
              <a:lnSpc>
                <a:spcPct val="80000"/>
              </a:lnSpc>
            </a:pPr>
            <a:r>
              <a:rPr lang="en-US" altLang="zh-TW" sz="2400">
                <a:latin typeface="Times New Roman" pitchFamily="18" charset="0"/>
              </a:rPr>
              <a:t> an indoor repeater with distributed indoor antennas fed through power splitters,</a:t>
            </a:r>
          </a:p>
          <a:p>
            <a:pPr lvl="1" eaLnBrk="1" hangingPunct="1">
              <a:lnSpc>
                <a:spcPct val="80000"/>
              </a:lnSpc>
            </a:pPr>
            <a:r>
              <a:rPr lang="en-US" altLang="zh-TW" sz="2400">
                <a:latin typeface="Times New Roman" pitchFamily="18" charset="0"/>
              </a:rPr>
              <a:t>to deliver the radio signals from an antenna outdoors to the separate indoor distributed antenna system. 	</a:t>
            </a:r>
          </a:p>
          <a:p>
            <a:pPr lvl="1" eaLnBrk="1" hangingPunct="1">
              <a:lnSpc>
                <a:spcPct val="80000"/>
              </a:lnSpc>
            </a:pPr>
            <a:r>
              <a:rPr lang="en-US" altLang="zh-TW" sz="2400">
                <a:latin typeface="Times New Roman" pitchFamily="18" charset="0"/>
              </a:rPr>
              <a:t>E.g. In shopping centers or airports. </a:t>
            </a:r>
          </a:p>
        </p:txBody>
      </p:sp>
      <p:pic>
        <p:nvPicPr>
          <p:cNvPr id="1741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688" y="1844675"/>
            <a:ext cx="2089150"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0" y="4076700"/>
            <a:ext cx="3241675"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zh-TW" sz="4000">
                <a:latin typeface="Times New Roman" pitchFamily="18" charset="0"/>
              </a:rPr>
              <a:t>Cellular Network</a:t>
            </a:r>
          </a:p>
        </p:txBody>
      </p:sp>
      <p:sp>
        <p:nvSpPr>
          <p:cNvPr id="18435" name="Rectangle 3"/>
          <p:cNvSpPr>
            <a:spLocks noGrp="1" noChangeArrowheads="1"/>
          </p:cNvSpPr>
          <p:nvPr>
            <p:ph type="body" idx="1"/>
          </p:nvPr>
        </p:nvSpPr>
        <p:spPr>
          <a:xfrm>
            <a:off x="457200" y="1341438"/>
            <a:ext cx="8229600" cy="4525962"/>
          </a:xfrm>
        </p:spPr>
        <p:txBody>
          <a:bodyPr/>
          <a:lstStyle/>
          <a:p>
            <a:pPr eaLnBrk="1" hangingPunct="1">
              <a:lnSpc>
                <a:spcPct val="90000"/>
              </a:lnSpc>
            </a:pPr>
            <a:r>
              <a:rPr lang="en-US" altLang="zh-TW" sz="2800">
                <a:latin typeface="Times New Roman" pitchFamily="18" charset="0"/>
              </a:rPr>
              <a:t>Use multiple low-power transmitters (100  W or less)</a:t>
            </a:r>
          </a:p>
          <a:p>
            <a:pPr eaLnBrk="1" hangingPunct="1">
              <a:lnSpc>
                <a:spcPct val="90000"/>
              </a:lnSpc>
            </a:pPr>
            <a:r>
              <a:rPr lang="en-US" altLang="zh-TW" sz="2800">
                <a:latin typeface="Times New Roman" pitchFamily="18" charset="0"/>
              </a:rPr>
              <a:t>Areas divided into cells</a:t>
            </a:r>
          </a:p>
          <a:p>
            <a:pPr lvl="1" eaLnBrk="1" hangingPunct="1">
              <a:lnSpc>
                <a:spcPct val="90000"/>
              </a:lnSpc>
            </a:pPr>
            <a:r>
              <a:rPr lang="en-US" altLang="zh-TW" sz="2400">
                <a:latin typeface="Times New Roman" pitchFamily="18" charset="0"/>
              </a:rPr>
              <a:t>Each served by its own antenna</a:t>
            </a:r>
          </a:p>
          <a:p>
            <a:pPr lvl="1" eaLnBrk="1" hangingPunct="1">
              <a:lnSpc>
                <a:spcPct val="90000"/>
              </a:lnSpc>
            </a:pPr>
            <a:r>
              <a:rPr lang="en-US" altLang="zh-TW" sz="2400">
                <a:latin typeface="Times New Roman" pitchFamily="18" charset="0"/>
              </a:rPr>
              <a:t>Served by base station consisting of transmitter, receiver, and control unit</a:t>
            </a:r>
          </a:p>
          <a:p>
            <a:pPr lvl="1" eaLnBrk="1" hangingPunct="1">
              <a:lnSpc>
                <a:spcPct val="90000"/>
              </a:lnSpc>
            </a:pPr>
            <a:r>
              <a:rPr lang="en-US" altLang="zh-TW" sz="2400">
                <a:latin typeface="Times New Roman" pitchFamily="18" charset="0"/>
              </a:rPr>
              <a:t>Band of frequencies allocated</a:t>
            </a:r>
          </a:p>
          <a:p>
            <a:pPr lvl="1" eaLnBrk="1" hangingPunct="1">
              <a:lnSpc>
                <a:spcPct val="90000"/>
              </a:lnSpc>
            </a:pPr>
            <a:r>
              <a:rPr lang="en-US" altLang="zh-TW" sz="2400">
                <a:latin typeface="Times New Roman" pitchFamily="18" charset="0"/>
              </a:rPr>
              <a:t>Cells set up such that antennas of all  neighbors are equidistant (hexagonal pattern)</a:t>
            </a:r>
          </a:p>
        </p:txBody>
      </p:sp>
      <p:sp>
        <p:nvSpPr>
          <p:cNvPr id="18436" name="AutoShape 4"/>
          <p:cNvSpPr>
            <a:spLocks noChangeArrowheads="1"/>
          </p:cNvSpPr>
          <p:nvPr/>
        </p:nvSpPr>
        <p:spPr bwMode="auto">
          <a:xfrm>
            <a:off x="2209800" y="5157788"/>
            <a:ext cx="1219200" cy="914400"/>
          </a:xfrm>
          <a:prstGeom prst="hexagon">
            <a:avLst>
              <a:gd name="adj" fmla="val 33333"/>
              <a:gd name="vf" fmla="val 115470"/>
            </a:avLst>
          </a:prstGeom>
          <a:solidFill>
            <a:schemeClr val="accent1"/>
          </a:solidFill>
          <a:ln w="9525">
            <a:solidFill>
              <a:schemeClr val="tx1"/>
            </a:solidFill>
            <a:miter lim="800000"/>
            <a:headEnd/>
            <a:tailEnd/>
          </a:ln>
        </p:spPr>
        <p:txBody>
          <a:bodyPr wrap="none" anchor="ctr"/>
          <a:lstStyle/>
          <a:p>
            <a:endParaRPr lang="zh-TW" altLang="en-US"/>
          </a:p>
        </p:txBody>
      </p:sp>
      <p:sp>
        <p:nvSpPr>
          <p:cNvPr id="18437" name="AutoShape 5"/>
          <p:cNvSpPr>
            <a:spLocks noChangeArrowheads="1"/>
          </p:cNvSpPr>
          <p:nvPr/>
        </p:nvSpPr>
        <p:spPr bwMode="auto">
          <a:xfrm>
            <a:off x="3124200" y="5691188"/>
            <a:ext cx="1219200" cy="914400"/>
          </a:xfrm>
          <a:prstGeom prst="hexagon">
            <a:avLst>
              <a:gd name="adj" fmla="val 33333"/>
              <a:gd name="vf" fmla="val 115470"/>
            </a:avLst>
          </a:prstGeom>
          <a:solidFill>
            <a:srgbClr val="CCFFCC"/>
          </a:solidFill>
          <a:ln w="9525">
            <a:solidFill>
              <a:schemeClr val="tx1"/>
            </a:solidFill>
            <a:miter lim="800000"/>
            <a:headEnd/>
            <a:tailEnd/>
          </a:ln>
        </p:spPr>
        <p:txBody>
          <a:bodyPr wrap="none" anchor="ctr"/>
          <a:lstStyle/>
          <a:p>
            <a:endParaRPr lang="zh-TW" altLang="en-US"/>
          </a:p>
        </p:txBody>
      </p:sp>
      <p:sp>
        <p:nvSpPr>
          <p:cNvPr id="18438" name="AutoShape 6"/>
          <p:cNvSpPr>
            <a:spLocks noChangeArrowheads="1"/>
          </p:cNvSpPr>
          <p:nvPr/>
        </p:nvSpPr>
        <p:spPr bwMode="auto">
          <a:xfrm>
            <a:off x="4114800" y="5233988"/>
            <a:ext cx="1219200" cy="914400"/>
          </a:xfrm>
          <a:prstGeom prst="hexagon">
            <a:avLst>
              <a:gd name="adj" fmla="val 33333"/>
              <a:gd name="vf" fmla="val 115470"/>
            </a:avLst>
          </a:prstGeom>
          <a:solidFill>
            <a:srgbClr val="FFCC99"/>
          </a:solidFill>
          <a:ln w="9525">
            <a:solidFill>
              <a:schemeClr val="tx1"/>
            </a:solidFill>
            <a:miter lim="800000"/>
            <a:headEnd/>
            <a:tailEnd/>
          </a:ln>
        </p:spPr>
        <p:txBody>
          <a:bodyPr wrap="none" anchor="ctr"/>
          <a:lstStyle/>
          <a:p>
            <a:endParaRPr lang="zh-TW" altLang="en-US"/>
          </a:p>
        </p:txBody>
      </p:sp>
      <p:sp>
        <p:nvSpPr>
          <p:cNvPr id="18439" name="AutoShape 7"/>
          <p:cNvSpPr>
            <a:spLocks noChangeArrowheads="1"/>
          </p:cNvSpPr>
          <p:nvPr/>
        </p:nvSpPr>
        <p:spPr bwMode="auto">
          <a:xfrm>
            <a:off x="2819400" y="5462588"/>
            <a:ext cx="76200" cy="228600"/>
          </a:xfrm>
          <a:prstGeom prst="triangle">
            <a:avLst>
              <a:gd name="adj" fmla="val 50000"/>
            </a:avLst>
          </a:prstGeom>
          <a:solidFill>
            <a:srgbClr val="0000FF"/>
          </a:solidFill>
          <a:ln w="9525">
            <a:solidFill>
              <a:schemeClr val="tx1"/>
            </a:solidFill>
            <a:miter lim="800000"/>
            <a:headEnd/>
            <a:tailEnd/>
          </a:ln>
        </p:spPr>
        <p:txBody>
          <a:bodyPr wrap="none" anchor="ctr"/>
          <a:lstStyle/>
          <a:p>
            <a:endParaRPr lang="zh-TW" altLang="en-US"/>
          </a:p>
        </p:txBody>
      </p:sp>
      <p:sp>
        <p:nvSpPr>
          <p:cNvPr id="18440" name="AutoShape 8"/>
          <p:cNvSpPr>
            <a:spLocks noChangeArrowheads="1"/>
          </p:cNvSpPr>
          <p:nvPr/>
        </p:nvSpPr>
        <p:spPr bwMode="auto">
          <a:xfrm>
            <a:off x="3657600" y="5995988"/>
            <a:ext cx="76200" cy="228600"/>
          </a:xfrm>
          <a:prstGeom prst="triangle">
            <a:avLst>
              <a:gd name="adj" fmla="val 50000"/>
            </a:avLst>
          </a:prstGeom>
          <a:solidFill>
            <a:srgbClr val="339966">
              <a:alpha val="89803"/>
            </a:srgbClr>
          </a:solidFill>
          <a:ln w="9525">
            <a:solidFill>
              <a:schemeClr val="tx1"/>
            </a:solidFill>
            <a:miter lim="800000"/>
            <a:headEnd/>
            <a:tailEnd/>
          </a:ln>
        </p:spPr>
        <p:txBody>
          <a:bodyPr wrap="none" anchor="ctr"/>
          <a:lstStyle/>
          <a:p>
            <a:endParaRPr lang="zh-TW" altLang="en-US"/>
          </a:p>
        </p:txBody>
      </p:sp>
      <p:sp>
        <p:nvSpPr>
          <p:cNvPr id="18441" name="AutoShape 9"/>
          <p:cNvSpPr>
            <a:spLocks noChangeArrowheads="1"/>
          </p:cNvSpPr>
          <p:nvPr/>
        </p:nvSpPr>
        <p:spPr bwMode="auto">
          <a:xfrm>
            <a:off x="4648200" y="5462588"/>
            <a:ext cx="76200" cy="228600"/>
          </a:xfrm>
          <a:prstGeom prst="triangle">
            <a:avLst>
              <a:gd name="adj" fmla="val 50000"/>
            </a:avLst>
          </a:prstGeom>
          <a:solidFill>
            <a:srgbClr val="FF9900"/>
          </a:solidFill>
          <a:ln w="9525">
            <a:solidFill>
              <a:schemeClr val="tx1"/>
            </a:solidFill>
            <a:miter lim="800000"/>
            <a:headEnd/>
            <a:tailEnd/>
          </a:ln>
        </p:spPr>
        <p:txBody>
          <a:bodyPr wrap="none" anchor="ctr"/>
          <a:lstStyle/>
          <a:p>
            <a:endParaRPr lang="zh-TW" altLang="en-US"/>
          </a:p>
        </p:txBody>
      </p:sp>
      <p:sp>
        <p:nvSpPr>
          <p:cNvPr id="18442" name="Text Box 10"/>
          <p:cNvSpPr txBox="1">
            <a:spLocks noChangeArrowheads="1"/>
          </p:cNvSpPr>
          <p:nvPr/>
        </p:nvSpPr>
        <p:spPr bwMode="auto">
          <a:xfrm>
            <a:off x="1812925" y="5956300"/>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910MHz</a:t>
            </a:r>
          </a:p>
        </p:txBody>
      </p:sp>
      <p:sp>
        <p:nvSpPr>
          <p:cNvPr id="18443" name="Text Box 11"/>
          <p:cNvSpPr txBox="1">
            <a:spLocks noChangeArrowheads="1"/>
          </p:cNvSpPr>
          <p:nvPr/>
        </p:nvSpPr>
        <p:spPr bwMode="auto">
          <a:xfrm>
            <a:off x="2971800" y="6315075"/>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915MHz</a:t>
            </a:r>
          </a:p>
        </p:txBody>
      </p:sp>
      <p:sp>
        <p:nvSpPr>
          <p:cNvPr id="18444" name="Text Box 12"/>
          <p:cNvSpPr txBox="1">
            <a:spLocks noChangeArrowheads="1"/>
          </p:cNvSpPr>
          <p:nvPr/>
        </p:nvSpPr>
        <p:spPr bwMode="auto">
          <a:xfrm>
            <a:off x="4267200" y="5843588"/>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920MHz</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zh-TW" sz="4000">
                <a:latin typeface="Times New Roman" pitchFamily="18" charset="0"/>
              </a:rPr>
              <a:t>Cell Format</a:t>
            </a:r>
          </a:p>
        </p:txBody>
      </p:sp>
      <p:sp>
        <p:nvSpPr>
          <p:cNvPr id="19459" name="Rectangle 3"/>
          <p:cNvSpPr>
            <a:spLocks noGrp="1" noChangeArrowheads="1"/>
          </p:cNvSpPr>
          <p:nvPr>
            <p:ph type="body" idx="1"/>
          </p:nvPr>
        </p:nvSpPr>
        <p:spPr/>
        <p:txBody>
          <a:bodyPr/>
          <a:lstStyle/>
          <a:p>
            <a:pPr eaLnBrk="1" hangingPunct="1">
              <a:buFontTx/>
              <a:buNone/>
            </a:pPr>
            <a:endParaRPr lang="en-US" altLang="zh-TW">
              <a:latin typeface="Times New Roman" pitchFamily="18" charset="0"/>
            </a:endParaRPr>
          </a:p>
        </p:txBody>
      </p:sp>
      <p:pic>
        <p:nvPicPr>
          <p:cNvPr id="1946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1552575"/>
            <a:ext cx="718185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TW" sz="4000">
                <a:latin typeface="Times New Roman" pitchFamily="18" charset="0"/>
              </a:rPr>
              <a:t>Frequency Reuse</a:t>
            </a:r>
          </a:p>
        </p:txBody>
      </p:sp>
      <p:sp>
        <p:nvSpPr>
          <p:cNvPr id="20483" name="Rectangle 3"/>
          <p:cNvSpPr>
            <a:spLocks noGrp="1" noChangeArrowheads="1"/>
          </p:cNvSpPr>
          <p:nvPr>
            <p:ph type="body" idx="1"/>
          </p:nvPr>
        </p:nvSpPr>
        <p:spPr>
          <a:xfrm>
            <a:off x="457200" y="1341438"/>
            <a:ext cx="8229600" cy="4525962"/>
          </a:xfrm>
        </p:spPr>
        <p:txBody>
          <a:bodyPr/>
          <a:lstStyle/>
          <a:p>
            <a:pPr eaLnBrk="1" hangingPunct="1"/>
            <a:r>
              <a:rPr lang="en-US" altLang="zh-TW" sz="2400">
                <a:latin typeface="Times New Roman" pitchFamily="18" charset="0"/>
              </a:rPr>
              <a:t>Adjacent cells assigned different </a:t>
            </a:r>
          </a:p>
          <a:p>
            <a:pPr lvl="1" eaLnBrk="1" hangingPunct="1"/>
            <a:r>
              <a:rPr lang="en-US" altLang="zh-TW" sz="2000">
                <a:latin typeface="Times New Roman" pitchFamily="18" charset="0"/>
              </a:rPr>
              <a:t>frequencies to avoid interference or crosstalk</a:t>
            </a:r>
          </a:p>
          <a:p>
            <a:pPr eaLnBrk="1" hangingPunct="1"/>
            <a:r>
              <a:rPr lang="en-US" altLang="zh-TW" sz="2400">
                <a:latin typeface="Times New Roman" pitchFamily="18" charset="0"/>
              </a:rPr>
              <a:t>Objective is to reuse frequency in nearby cells</a:t>
            </a:r>
          </a:p>
          <a:p>
            <a:pPr lvl="1" eaLnBrk="1" hangingPunct="1"/>
            <a:r>
              <a:rPr lang="en-US" altLang="zh-TW" sz="2000">
                <a:latin typeface="Times New Roman" pitchFamily="18" charset="0"/>
              </a:rPr>
              <a:t>10 to 50 frequencies assigned to each cell</a:t>
            </a:r>
          </a:p>
          <a:p>
            <a:pPr lvl="1" eaLnBrk="1" hangingPunct="1"/>
            <a:r>
              <a:rPr lang="en-US" altLang="zh-TW" sz="2000">
                <a:latin typeface="Times New Roman" pitchFamily="18" charset="0"/>
              </a:rPr>
              <a:t>Transmission power controlled to limit power at that frequency escaping to adjacent cells</a:t>
            </a:r>
          </a:p>
          <a:p>
            <a:pPr lvl="1" eaLnBrk="1" hangingPunct="1"/>
            <a:r>
              <a:rPr lang="en-US" altLang="zh-TW" sz="2000">
                <a:latin typeface="Times New Roman" pitchFamily="18" charset="0"/>
              </a:rPr>
              <a:t>The issue is to determine how many cells must intervene between two cells using the frequency</a:t>
            </a:r>
          </a:p>
          <a:p>
            <a:pPr eaLnBrk="1" hangingPunct="1"/>
            <a:endParaRPr lang="en-US" altLang="zh-TW" sz="2400">
              <a:latin typeface="Times New Roman" pitchFamily="18" charset="0"/>
            </a:endParaRPr>
          </a:p>
        </p:txBody>
      </p:sp>
      <p:sp>
        <p:nvSpPr>
          <p:cNvPr id="20484" name="AutoShape 4"/>
          <p:cNvSpPr>
            <a:spLocks noChangeArrowheads="1"/>
          </p:cNvSpPr>
          <p:nvPr/>
        </p:nvSpPr>
        <p:spPr bwMode="auto">
          <a:xfrm>
            <a:off x="1981200" y="4724400"/>
            <a:ext cx="1219200" cy="914400"/>
          </a:xfrm>
          <a:prstGeom prst="hexagon">
            <a:avLst>
              <a:gd name="adj" fmla="val 33333"/>
              <a:gd name="vf" fmla="val 115470"/>
            </a:avLst>
          </a:prstGeom>
          <a:solidFill>
            <a:schemeClr val="accent1"/>
          </a:solidFill>
          <a:ln w="9525">
            <a:solidFill>
              <a:schemeClr val="tx1"/>
            </a:solidFill>
            <a:miter lim="800000"/>
            <a:headEnd/>
            <a:tailEnd/>
          </a:ln>
        </p:spPr>
        <p:txBody>
          <a:bodyPr wrap="none" anchor="ctr"/>
          <a:lstStyle/>
          <a:p>
            <a:endParaRPr lang="zh-TW" altLang="en-US"/>
          </a:p>
        </p:txBody>
      </p:sp>
      <p:sp>
        <p:nvSpPr>
          <p:cNvPr id="20485" name="AutoShape 5"/>
          <p:cNvSpPr>
            <a:spLocks noChangeArrowheads="1"/>
          </p:cNvSpPr>
          <p:nvPr/>
        </p:nvSpPr>
        <p:spPr bwMode="auto">
          <a:xfrm>
            <a:off x="2895600" y="5257800"/>
            <a:ext cx="1219200" cy="914400"/>
          </a:xfrm>
          <a:prstGeom prst="hexagon">
            <a:avLst>
              <a:gd name="adj" fmla="val 33333"/>
              <a:gd name="vf" fmla="val 115470"/>
            </a:avLst>
          </a:prstGeom>
          <a:solidFill>
            <a:srgbClr val="CCFFCC"/>
          </a:solidFill>
          <a:ln w="9525">
            <a:solidFill>
              <a:schemeClr val="tx1"/>
            </a:solidFill>
            <a:miter lim="800000"/>
            <a:headEnd/>
            <a:tailEnd/>
          </a:ln>
        </p:spPr>
        <p:txBody>
          <a:bodyPr wrap="none" anchor="ctr"/>
          <a:lstStyle/>
          <a:p>
            <a:endParaRPr lang="zh-TW" altLang="en-US"/>
          </a:p>
        </p:txBody>
      </p:sp>
      <p:sp>
        <p:nvSpPr>
          <p:cNvPr id="20486" name="AutoShape 6"/>
          <p:cNvSpPr>
            <a:spLocks noChangeArrowheads="1"/>
          </p:cNvSpPr>
          <p:nvPr/>
        </p:nvSpPr>
        <p:spPr bwMode="auto">
          <a:xfrm>
            <a:off x="3886200" y="4800600"/>
            <a:ext cx="1219200" cy="914400"/>
          </a:xfrm>
          <a:prstGeom prst="hexagon">
            <a:avLst>
              <a:gd name="adj" fmla="val 33333"/>
              <a:gd name="vf" fmla="val 115470"/>
            </a:avLst>
          </a:prstGeom>
          <a:solidFill>
            <a:srgbClr val="FFCC99"/>
          </a:solidFill>
          <a:ln w="9525">
            <a:solidFill>
              <a:schemeClr val="tx1"/>
            </a:solidFill>
            <a:miter lim="800000"/>
            <a:headEnd/>
            <a:tailEnd/>
          </a:ln>
        </p:spPr>
        <p:txBody>
          <a:bodyPr wrap="none" anchor="ctr"/>
          <a:lstStyle/>
          <a:p>
            <a:endParaRPr lang="zh-TW" altLang="en-US"/>
          </a:p>
        </p:txBody>
      </p:sp>
      <p:sp>
        <p:nvSpPr>
          <p:cNvPr id="20487" name="AutoShape 7"/>
          <p:cNvSpPr>
            <a:spLocks noChangeArrowheads="1"/>
          </p:cNvSpPr>
          <p:nvPr/>
        </p:nvSpPr>
        <p:spPr bwMode="auto">
          <a:xfrm>
            <a:off x="2590800" y="5029200"/>
            <a:ext cx="76200" cy="228600"/>
          </a:xfrm>
          <a:prstGeom prst="triangle">
            <a:avLst>
              <a:gd name="adj" fmla="val 50000"/>
            </a:avLst>
          </a:prstGeom>
          <a:solidFill>
            <a:srgbClr val="0000FF"/>
          </a:solidFill>
          <a:ln w="9525">
            <a:solidFill>
              <a:schemeClr val="tx1"/>
            </a:solidFill>
            <a:miter lim="800000"/>
            <a:headEnd/>
            <a:tailEnd/>
          </a:ln>
        </p:spPr>
        <p:txBody>
          <a:bodyPr wrap="none" anchor="ctr"/>
          <a:lstStyle/>
          <a:p>
            <a:endParaRPr lang="zh-TW" altLang="en-US"/>
          </a:p>
        </p:txBody>
      </p:sp>
      <p:sp>
        <p:nvSpPr>
          <p:cNvPr id="20488" name="AutoShape 8"/>
          <p:cNvSpPr>
            <a:spLocks noChangeArrowheads="1"/>
          </p:cNvSpPr>
          <p:nvPr/>
        </p:nvSpPr>
        <p:spPr bwMode="auto">
          <a:xfrm>
            <a:off x="3429000" y="5562600"/>
            <a:ext cx="76200" cy="228600"/>
          </a:xfrm>
          <a:prstGeom prst="triangle">
            <a:avLst>
              <a:gd name="adj" fmla="val 50000"/>
            </a:avLst>
          </a:prstGeom>
          <a:solidFill>
            <a:srgbClr val="339966">
              <a:alpha val="89803"/>
            </a:srgbClr>
          </a:solidFill>
          <a:ln w="9525">
            <a:solidFill>
              <a:schemeClr val="tx1"/>
            </a:solidFill>
            <a:miter lim="800000"/>
            <a:headEnd/>
            <a:tailEnd/>
          </a:ln>
        </p:spPr>
        <p:txBody>
          <a:bodyPr wrap="none" anchor="ctr"/>
          <a:lstStyle/>
          <a:p>
            <a:endParaRPr lang="zh-TW" altLang="en-US"/>
          </a:p>
        </p:txBody>
      </p:sp>
      <p:sp>
        <p:nvSpPr>
          <p:cNvPr id="20489" name="AutoShape 9"/>
          <p:cNvSpPr>
            <a:spLocks noChangeArrowheads="1"/>
          </p:cNvSpPr>
          <p:nvPr/>
        </p:nvSpPr>
        <p:spPr bwMode="auto">
          <a:xfrm>
            <a:off x="4419600" y="5029200"/>
            <a:ext cx="76200" cy="228600"/>
          </a:xfrm>
          <a:prstGeom prst="triangle">
            <a:avLst>
              <a:gd name="adj" fmla="val 50000"/>
            </a:avLst>
          </a:prstGeom>
          <a:solidFill>
            <a:srgbClr val="FF9900"/>
          </a:solidFill>
          <a:ln w="9525">
            <a:solidFill>
              <a:schemeClr val="tx1"/>
            </a:solidFill>
            <a:miter lim="800000"/>
            <a:headEnd/>
            <a:tailEnd/>
          </a:ln>
        </p:spPr>
        <p:txBody>
          <a:bodyPr wrap="none" anchor="ctr"/>
          <a:lstStyle/>
          <a:p>
            <a:endParaRPr lang="zh-TW" altLang="en-US"/>
          </a:p>
        </p:txBody>
      </p:sp>
      <p:sp>
        <p:nvSpPr>
          <p:cNvPr id="20490" name="Text Box 10"/>
          <p:cNvSpPr txBox="1">
            <a:spLocks noChangeArrowheads="1"/>
          </p:cNvSpPr>
          <p:nvPr/>
        </p:nvSpPr>
        <p:spPr bwMode="auto">
          <a:xfrm>
            <a:off x="1584325" y="5522913"/>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910MHz</a:t>
            </a:r>
          </a:p>
        </p:txBody>
      </p:sp>
      <p:sp>
        <p:nvSpPr>
          <p:cNvPr id="20491" name="Text Box 11"/>
          <p:cNvSpPr txBox="1">
            <a:spLocks noChangeArrowheads="1"/>
          </p:cNvSpPr>
          <p:nvPr/>
        </p:nvSpPr>
        <p:spPr bwMode="auto">
          <a:xfrm>
            <a:off x="2743200" y="5881688"/>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915MHz</a:t>
            </a:r>
          </a:p>
        </p:txBody>
      </p:sp>
      <p:sp>
        <p:nvSpPr>
          <p:cNvPr id="20492" name="Text Box 12"/>
          <p:cNvSpPr txBox="1">
            <a:spLocks noChangeArrowheads="1"/>
          </p:cNvSpPr>
          <p:nvPr/>
        </p:nvSpPr>
        <p:spPr bwMode="auto">
          <a:xfrm>
            <a:off x="4038600" y="5410200"/>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920MHz</a:t>
            </a:r>
          </a:p>
        </p:txBody>
      </p:sp>
      <p:sp>
        <p:nvSpPr>
          <p:cNvPr id="20493" name="AutoShape 13"/>
          <p:cNvSpPr>
            <a:spLocks noChangeArrowheads="1"/>
          </p:cNvSpPr>
          <p:nvPr/>
        </p:nvSpPr>
        <p:spPr bwMode="auto">
          <a:xfrm>
            <a:off x="4876800" y="5257800"/>
            <a:ext cx="1219200" cy="914400"/>
          </a:xfrm>
          <a:prstGeom prst="hexagon">
            <a:avLst>
              <a:gd name="adj" fmla="val 33333"/>
              <a:gd name="vf" fmla="val 115470"/>
            </a:avLst>
          </a:prstGeom>
          <a:solidFill>
            <a:schemeClr val="accent1"/>
          </a:solidFill>
          <a:ln w="9525">
            <a:solidFill>
              <a:schemeClr val="tx1"/>
            </a:solidFill>
            <a:miter lim="800000"/>
            <a:headEnd/>
            <a:tailEnd/>
          </a:ln>
        </p:spPr>
        <p:txBody>
          <a:bodyPr wrap="none" anchor="ctr"/>
          <a:lstStyle/>
          <a:p>
            <a:endParaRPr lang="zh-TW" altLang="en-US"/>
          </a:p>
        </p:txBody>
      </p:sp>
      <p:sp>
        <p:nvSpPr>
          <p:cNvPr id="20494" name="AutoShape 14"/>
          <p:cNvSpPr>
            <a:spLocks noChangeArrowheads="1"/>
          </p:cNvSpPr>
          <p:nvPr/>
        </p:nvSpPr>
        <p:spPr bwMode="auto">
          <a:xfrm>
            <a:off x="5486400" y="5562600"/>
            <a:ext cx="76200" cy="228600"/>
          </a:xfrm>
          <a:prstGeom prst="triangle">
            <a:avLst>
              <a:gd name="adj" fmla="val 50000"/>
            </a:avLst>
          </a:prstGeom>
          <a:solidFill>
            <a:srgbClr val="0000FF"/>
          </a:solidFill>
          <a:ln w="9525">
            <a:solidFill>
              <a:schemeClr val="tx1"/>
            </a:solidFill>
            <a:miter lim="800000"/>
            <a:headEnd/>
            <a:tailEnd/>
          </a:ln>
        </p:spPr>
        <p:txBody>
          <a:bodyPr wrap="none" anchor="ctr"/>
          <a:lstStyle/>
          <a:p>
            <a:endParaRPr lang="zh-TW" altLang="en-US"/>
          </a:p>
        </p:txBody>
      </p:sp>
      <p:sp>
        <p:nvSpPr>
          <p:cNvPr id="20495" name="Text Box 15"/>
          <p:cNvSpPr txBox="1">
            <a:spLocks noChangeArrowheads="1"/>
          </p:cNvSpPr>
          <p:nvPr/>
        </p:nvSpPr>
        <p:spPr bwMode="auto">
          <a:xfrm>
            <a:off x="4479925" y="6056313"/>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910MHz</a:t>
            </a:r>
          </a:p>
        </p:txBody>
      </p:sp>
      <p:sp>
        <p:nvSpPr>
          <p:cNvPr id="20496" name="Freeform 16"/>
          <p:cNvSpPr>
            <a:spLocks/>
          </p:cNvSpPr>
          <p:nvPr/>
        </p:nvSpPr>
        <p:spPr bwMode="auto">
          <a:xfrm>
            <a:off x="2514600" y="5295900"/>
            <a:ext cx="2667000" cy="749300"/>
          </a:xfrm>
          <a:custGeom>
            <a:avLst/>
            <a:gdLst>
              <a:gd name="T0" fmla="*/ 0 w 1680"/>
              <a:gd name="T1" fmla="*/ 24 h 472"/>
              <a:gd name="T2" fmla="*/ 288 w 1680"/>
              <a:gd name="T3" fmla="*/ 24 h 472"/>
              <a:gd name="T4" fmla="*/ 480 w 1680"/>
              <a:gd name="T5" fmla="*/ 168 h 472"/>
              <a:gd name="T6" fmla="*/ 864 w 1680"/>
              <a:gd name="T7" fmla="*/ 24 h 472"/>
              <a:gd name="T8" fmla="*/ 864 w 1680"/>
              <a:gd name="T9" fmla="*/ 264 h 472"/>
              <a:gd name="T10" fmla="*/ 1296 w 1680"/>
              <a:gd name="T11" fmla="*/ 216 h 472"/>
              <a:gd name="T12" fmla="*/ 1440 w 1680"/>
              <a:gd name="T13" fmla="*/ 456 h 472"/>
              <a:gd name="T14" fmla="*/ 1680 w 1680"/>
              <a:gd name="T15" fmla="*/ 312 h 472"/>
              <a:gd name="T16" fmla="*/ 0 60000 65536"/>
              <a:gd name="T17" fmla="*/ 0 60000 65536"/>
              <a:gd name="T18" fmla="*/ 0 60000 65536"/>
              <a:gd name="T19" fmla="*/ 0 60000 65536"/>
              <a:gd name="T20" fmla="*/ 0 60000 65536"/>
              <a:gd name="T21" fmla="*/ 0 60000 65536"/>
              <a:gd name="T22" fmla="*/ 0 60000 65536"/>
              <a:gd name="T23" fmla="*/ 0 60000 65536"/>
              <a:gd name="T24" fmla="*/ 0 w 1680"/>
              <a:gd name="T25" fmla="*/ 0 h 472"/>
              <a:gd name="T26" fmla="*/ 1680 w 1680"/>
              <a:gd name="T27" fmla="*/ 472 h 4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80" h="472">
                <a:moveTo>
                  <a:pt x="0" y="24"/>
                </a:moveTo>
                <a:cubicBezTo>
                  <a:pt x="104" y="12"/>
                  <a:pt x="208" y="0"/>
                  <a:pt x="288" y="24"/>
                </a:cubicBezTo>
                <a:cubicBezTo>
                  <a:pt x="368" y="48"/>
                  <a:pt x="384" y="168"/>
                  <a:pt x="480" y="168"/>
                </a:cubicBezTo>
                <a:cubicBezTo>
                  <a:pt x="576" y="168"/>
                  <a:pt x="800" y="8"/>
                  <a:pt x="864" y="24"/>
                </a:cubicBezTo>
                <a:cubicBezTo>
                  <a:pt x="928" y="40"/>
                  <a:pt x="792" y="232"/>
                  <a:pt x="864" y="264"/>
                </a:cubicBezTo>
                <a:cubicBezTo>
                  <a:pt x="936" y="296"/>
                  <a:pt x="1200" y="184"/>
                  <a:pt x="1296" y="216"/>
                </a:cubicBezTo>
                <a:cubicBezTo>
                  <a:pt x="1392" y="248"/>
                  <a:pt x="1376" y="440"/>
                  <a:pt x="1440" y="456"/>
                </a:cubicBezTo>
                <a:cubicBezTo>
                  <a:pt x="1504" y="472"/>
                  <a:pt x="1640" y="336"/>
                  <a:pt x="1680" y="312"/>
                </a:cubicBezTo>
              </a:path>
            </a:pathLst>
          </a:custGeom>
          <a:noFill/>
          <a:ln w="12700" cap="flat">
            <a:solidFill>
              <a:srgbClr val="0000FF"/>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HK" altLang="en-US"/>
          </a:p>
        </p:txBody>
      </p:sp>
      <p:sp>
        <p:nvSpPr>
          <p:cNvPr id="20497" name="Line 17"/>
          <p:cNvSpPr>
            <a:spLocks noChangeShapeType="1"/>
          </p:cNvSpPr>
          <p:nvPr/>
        </p:nvSpPr>
        <p:spPr bwMode="auto">
          <a:xfrm flipH="1" flipV="1">
            <a:off x="5257800" y="5791200"/>
            <a:ext cx="228600" cy="7620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HK" altLang="en-US"/>
          </a:p>
        </p:txBody>
      </p:sp>
      <p:sp>
        <p:nvSpPr>
          <p:cNvPr id="20498" name="Oval 18"/>
          <p:cNvSpPr>
            <a:spLocks noChangeArrowheads="1"/>
          </p:cNvSpPr>
          <p:nvPr/>
        </p:nvSpPr>
        <p:spPr bwMode="auto">
          <a:xfrm>
            <a:off x="5029200" y="5715000"/>
            <a:ext cx="228600" cy="76200"/>
          </a:xfrm>
          <a:prstGeom prst="ellipse">
            <a:avLst/>
          </a:prstGeom>
          <a:solidFill>
            <a:srgbClr val="808080"/>
          </a:solidFill>
          <a:ln w="9525">
            <a:solidFill>
              <a:schemeClr val="tx1"/>
            </a:solidFill>
            <a:round/>
            <a:headEnd/>
            <a:tailEnd/>
          </a:ln>
        </p:spPr>
        <p:txBody>
          <a:bodyPr wrap="none" anchor="ctr"/>
          <a:lstStyle/>
          <a:p>
            <a:endParaRPr lang="zh-TW" altLang="en-US"/>
          </a:p>
        </p:txBody>
      </p:sp>
      <p:sp>
        <p:nvSpPr>
          <p:cNvPr id="20499" name="Text Box 19"/>
          <p:cNvSpPr txBox="1">
            <a:spLocks noChangeArrowheads="1"/>
          </p:cNvSpPr>
          <p:nvPr/>
        </p:nvSpPr>
        <p:spPr bwMode="auto">
          <a:xfrm>
            <a:off x="4114800" y="5791200"/>
            <a:ext cx="781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b="1"/>
              <a:t>noise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ltLang="zh-TW" sz="4000">
                <a:latin typeface="Times New Roman" pitchFamily="18" charset="0"/>
              </a:rPr>
              <a:t>Frequency Reuse</a:t>
            </a:r>
          </a:p>
        </p:txBody>
      </p:sp>
      <p:sp>
        <p:nvSpPr>
          <p:cNvPr id="21507" name="Rectangle 3"/>
          <p:cNvSpPr>
            <a:spLocks noGrp="1" noChangeArrowheads="1"/>
          </p:cNvSpPr>
          <p:nvPr>
            <p:ph type="body" idx="1"/>
          </p:nvPr>
        </p:nvSpPr>
        <p:spPr>
          <a:xfrm>
            <a:off x="457200" y="765175"/>
            <a:ext cx="8229600" cy="4525963"/>
          </a:xfrm>
        </p:spPr>
        <p:txBody>
          <a:bodyPr/>
          <a:lstStyle/>
          <a:p>
            <a:pPr eaLnBrk="1" hangingPunct="1"/>
            <a:endParaRPr lang="en-US" altLang="zh-TW">
              <a:latin typeface="Times New Roman" pitchFamily="18" charset="0"/>
            </a:endParaRPr>
          </a:p>
          <a:p>
            <a:pPr eaLnBrk="1" hangingPunct="1"/>
            <a:r>
              <a:rPr lang="en-US" altLang="zh-TW">
                <a:latin typeface="Times New Roman" pitchFamily="18" charset="0"/>
              </a:rPr>
              <a:t>N=1,3,4,7,9,12,13,16,19 ..</a:t>
            </a:r>
          </a:p>
          <a:p>
            <a:pPr eaLnBrk="1" hangingPunct="1">
              <a:buFontTx/>
              <a:buNone/>
            </a:pPr>
            <a:endParaRPr lang="en-US" altLang="zh-TW">
              <a:latin typeface="Times New Roman" pitchFamily="18" charset="0"/>
            </a:endParaRPr>
          </a:p>
          <a:p>
            <a:pPr eaLnBrk="1" hangingPunct="1">
              <a:buFontTx/>
              <a:buNone/>
            </a:pPr>
            <a:endParaRPr lang="en-US" altLang="zh-TW" sz="2800">
              <a:latin typeface="Times New Roman" pitchFamily="18" charset="0"/>
            </a:endParaRPr>
          </a:p>
        </p:txBody>
      </p:sp>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060575"/>
            <a:ext cx="7467600"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TW" sz="3600">
                <a:latin typeface="Times New Roman" pitchFamily="18" charset="0"/>
              </a:rPr>
              <a:t>Frequency Reuse</a:t>
            </a:r>
          </a:p>
        </p:txBody>
      </p:sp>
      <p:sp>
        <p:nvSpPr>
          <p:cNvPr id="22531" name="Rectangle 3"/>
          <p:cNvSpPr>
            <a:spLocks noGrp="1" noChangeArrowheads="1"/>
          </p:cNvSpPr>
          <p:nvPr>
            <p:ph type="body" idx="1"/>
          </p:nvPr>
        </p:nvSpPr>
        <p:spPr>
          <a:xfrm>
            <a:off x="468313" y="908050"/>
            <a:ext cx="8229600" cy="4019550"/>
          </a:xfrm>
        </p:spPr>
        <p:txBody>
          <a:bodyPr/>
          <a:lstStyle/>
          <a:p>
            <a:pPr eaLnBrk="1" hangingPunct="1"/>
            <a:r>
              <a:rPr lang="en-US" altLang="zh-TW" sz="2800">
                <a:latin typeface="Times New Roman" pitchFamily="18" charset="0"/>
              </a:rPr>
              <a:t>Larger N </a:t>
            </a:r>
          </a:p>
          <a:p>
            <a:pPr lvl="1" eaLnBrk="1" hangingPunct="1"/>
            <a:r>
              <a:rPr lang="en-US" altLang="zh-TW" sz="2400">
                <a:latin typeface="Times New Roman" pitchFamily="18" charset="0"/>
                <a:sym typeface="Wingdings" pitchFamily="2" charset="2"/>
              </a:rPr>
              <a:t>Longer distance between cell with the same frequency</a:t>
            </a:r>
          </a:p>
          <a:p>
            <a:pPr lvl="1" eaLnBrk="1" hangingPunct="1"/>
            <a:r>
              <a:rPr lang="en-US" altLang="zh-TW" sz="2400">
                <a:latin typeface="Times New Roman" pitchFamily="18" charset="0"/>
                <a:sym typeface="Wingdings" pitchFamily="2" charset="2"/>
              </a:rPr>
              <a:t>Less co-channel interference</a:t>
            </a:r>
          </a:p>
        </p:txBody>
      </p:sp>
      <p:pic>
        <p:nvPicPr>
          <p:cNvPr id="225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2627313"/>
            <a:ext cx="5400675" cy="396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5"/>
          <p:cNvSpPr>
            <a:spLocks noChangeArrowheads="1"/>
          </p:cNvSpPr>
          <p:nvPr/>
        </p:nvSpPr>
        <p:spPr bwMode="auto">
          <a:xfrm>
            <a:off x="6227763" y="3429000"/>
            <a:ext cx="145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TW">
                <a:solidFill>
                  <a:srgbClr val="FF3300"/>
                </a:solidFill>
              </a:rPr>
              <a:t>Co-channel</a:t>
            </a:r>
          </a:p>
          <a:p>
            <a:r>
              <a:rPr kumimoji="0" lang="en-US" altLang="zh-TW">
                <a:solidFill>
                  <a:srgbClr val="FF3300"/>
                </a:solidFill>
              </a:rPr>
              <a:t> interference</a:t>
            </a:r>
          </a:p>
        </p:txBody>
      </p:sp>
      <p:sp>
        <p:nvSpPr>
          <p:cNvPr id="22534" name="Line 6"/>
          <p:cNvSpPr>
            <a:spLocks noChangeShapeType="1"/>
          </p:cNvSpPr>
          <p:nvPr/>
        </p:nvSpPr>
        <p:spPr bwMode="auto">
          <a:xfrm flipH="1">
            <a:off x="5292725" y="3716338"/>
            <a:ext cx="287338" cy="576262"/>
          </a:xfrm>
          <a:prstGeom prst="line">
            <a:avLst/>
          </a:prstGeom>
          <a:noFill/>
          <a:ln w="952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HK"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TW" sz="3600">
                <a:latin typeface="Times New Roman" pitchFamily="18" charset="0"/>
              </a:rPr>
              <a:t>Frequency Reuse</a:t>
            </a:r>
          </a:p>
        </p:txBody>
      </p:sp>
      <p:sp>
        <p:nvSpPr>
          <p:cNvPr id="23555" name="Rectangle 3"/>
          <p:cNvSpPr>
            <a:spLocks noGrp="1" noChangeArrowheads="1"/>
          </p:cNvSpPr>
          <p:nvPr>
            <p:ph type="body" idx="1"/>
          </p:nvPr>
        </p:nvSpPr>
        <p:spPr>
          <a:xfrm>
            <a:off x="457200" y="1063625"/>
            <a:ext cx="8229600" cy="4525963"/>
          </a:xfrm>
        </p:spPr>
        <p:txBody>
          <a:bodyPr/>
          <a:lstStyle/>
          <a:p>
            <a:pPr eaLnBrk="1" hangingPunct="1">
              <a:buFontTx/>
              <a:buNone/>
            </a:pPr>
            <a:r>
              <a:rPr lang="en-US" altLang="zh-TW" sz="2800">
                <a:latin typeface="Times New Roman" pitchFamily="18" charset="0"/>
              </a:rPr>
              <a:t>Power is inversely proportional to Distance (Inverse square law)</a:t>
            </a:r>
          </a:p>
          <a:p>
            <a:pPr eaLnBrk="1" hangingPunct="1">
              <a:buFontTx/>
              <a:buNone/>
            </a:pPr>
            <a:r>
              <a:rPr lang="en-US" altLang="zh-TW" sz="2800">
                <a:latin typeface="Times New Roman" pitchFamily="18" charset="0"/>
                <a:sym typeface="Wingdings" pitchFamily="2" charset="2"/>
              </a:rPr>
              <a:t> Signal to Noise is proportional to N</a:t>
            </a:r>
            <a:r>
              <a:rPr lang="en-US" altLang="zh-TW" sz="2800" baseline="30000">
                <a:latin typeface="Times New Roman" pitchFamily="18" charset="0"/>
                <a:sym typeface="Wingdings" pitchFamily="2" charset="2"/>
              </a:rPr>
              <a:t>2</a:t>
            </a:r>
            <a:endParaRPr lang="en-US" altLang="zh-TW" sz="2800" baseline="30000">
              <a:latin typeface="Times New Roman" pitchFamily="18" charset="0"/>
            </a:endParaRPr>
          </a:p>
        </p:txBody>
      </p:sp>
      <p:pic>
        <p:nvPicPr>
          <p:cNvPr id="235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827338"/>
            <a:ext cx="8458200"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30175"/>
            <a:ext cx="8229600" cy="490538"/>
          </a:xfrm>
        </p:spPr>
        <p:txBody>
          <a:bodyPr/>
          <a:lstStyle/>
          <a:p>
            <a:pPr eaLnBrk="1" hangingPunct="1"/>
            <a:r>
              <a:rPr lang="en-US" altLang="zh-TW" sz="3200">
                <a:latin typeface="Times New Roman" pitchFamily="18" charset="0"/>
              </a:rPr>
              <a:t>Approaches to Cope with Increasing Capacity</a:t>
            </a:r>
          </a:p>
        </p:txBody>
      </p:sp>
      <p:sp>
        <p:nvSpPr>
          <p:cNvPr id="24579" name="Rectangle 3"/>
          <p:cNvSpPr>
            <a:spLocks noGrp="1" noChangeArrowheads="1"/>
          </p:cNvSpPr>
          <p:nvPr>
            <p:ph type="body" idx="1"/>
          </p:nvPr>
        </p:nvSpPr>
        <p:spPr>
          <a:xfrm>
            <a:off x="304800" y="1076325"/>
            <a:ext cx="5791200" cy="4800600"/>
          </a:xfrm>
        </p:spPr>
        <p:txBody>
          <a:bodyPr/>
          <a:lstStyle/>
          <a:p>
            <a:pPr eaLnBrk="1" hangingPunct="1">
              <a:lnSpc>
                <a:spcPct val="90000"/>
              </a:lnSpc>
            </a:pPr>
            <a:r>
              <a:rPr lang="en-US" altLang="zh-TW" sz="2400">
                <a:latin typeface="Times New Roman" pitchFamily="18" charset="0"/>
              </a:rPr>
              <a:t>Adding new channels</a:t>
            </a:r>
          </a:p>
          <a:p>
            <a:pPr eaLnBrk="1" hangingPunct="1">
              <a:lnSpc>
                <a:spcPct val="90000"/>
              </a:lnSpc>
            </a:pPr>
            <a:r>
              <a:rPr lang="en-US" altLang="zh-TW" sz="2400">
                <a:latin typeface="Times New Roman" pitchFamily="18" charset="0"/>
              </a:rPr>
              <a:t>Frequency borrowing</a:t>
            </a:r>
          </a:p>
          <a:p>
            <a:pPr lvl="1" eaLnBrk="1" hangingPunct="1">
              <a:lnSpc>
                <a:spcPct val="90000"/>
              </a:lnSpc>
            </a:pPr>
            <a:r>
              <a:rPr lang="en-US" altLang="zh-TW" sz="2000">
                <a:latin typeface="Times New Roman" pitchFamily="18" charset="0"/>
              </a:rPr>
              <a:t>frequencies are taken  from adjacent cells by congested cells</a:t>
            </a:r>
          </a:p>
          <a:p>
            <a:pPr eaLnBrk="1" hangingPunct="1">
              <a:lnSpc>
                <a:spcPct val="90000"/>
              </a:lnSpc>
            </a:pPr>
            <a:r>
              <a:rPr lang="en-US" altLang="zh-TW" sz="2400">
                <a:latin typeface="Times New Roman" pitchFamily="18" charset="0"/>
              </a:rPr>
              <a:t>Cell splitting</a:t>
            </a:r>
          </a:p>
          <a:p>
            <a:pPr lvl="1" eaLnBrk="1" hangingPunct="1">
              <a:lnSpc>
                <a:spcPct val="90000"/>
              </a:lnSpc>
            </a:pPr>
            <a:r>
              <a:rPr lang="en-US" altLang="zh-TW" sz="2000">
                <a:latin typeface="Times New Roman" pitchFamily="18" charset="0"/>
              </a:rPr>
              <a:t>cells in areas of high usage can be split into smaller cells</a:t>
            </a:r>
          </a:p>
          <a:p>
            <a:pPr eaLnBrk="1" hangingPunct="1">
              <a:lnSpc>
                <a:spcPct val="90000"/>
              </a:lnSpc>
            </a:pPr>
            <a:r>
              <a:rPr lang="en-US" altLang="zh-TW" sz="2400">
                <a:latin typeface="Times New Roman" pitchFamily="18" charset="0"/>
              </a:rPr>
              <a:t>Cell sectoring</a:t>
            </a:r>
          </a:p>
          <a:p>
            <a:pPr lvl="1" eaLnBrk="1" hangingPunct="1">
              <a:lnSpc>
                <a:spcPct val="90000"/>
              </a:lnSpc>
            </a:pPr>
            <a:r>
              <a:rPr lang="en-US" altLang="zh-TW" sz="2000">
                <a:latin typeface="Times New Roman" pitchFamily="18" charset="0"/>
              </a:rPr>
              <a:t>cells are divided into a number of wedge-shaped sectors, each with their own set of channels</a:t>
            </a:r>
          </a:p>
          <a:p>
            <a:pPr eaLnBrk="1" hangingPunct="1">
              <a:lnSpc>
                <a:spcPct val="90000"/>
              </a:lnSpc>
            </a:pPr>
            <a:r>
              <a:rPr lang="en-US" altLang="zh-TW" sz="2400">
                <a:latin typeface="Times New Roman" pitchFamily="18" charset="0"/>
              </a:rPr>
              <a:t>Microcells</a:t>
            </a:r>
          </a:p>
          <a:p>
            <a:pPr lvl="1" eaLnBrk="1" hangingPunct="1">
              <a:lnSpc>
                <a:spcPct val="90000"/>
              </a:lnSpc>
            </a:pPr>
            <a:r>
              <a:rPr lang="en-US" altLang="zh-TW" sz="2000">
                <a:latin typeface="Times New Roman" pitchFamily="18" charset="0"/>
              </a:rPr>
              <a:t>antennas move to buildings, hills,  and lamp posts</a:t>
            </a:r>
          </a:p>
        </p:txBody>
      </p:sp>
      <p:pic>
        <p:nvPicPr>
          <p:cNvPr id="2458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3962400"/>
            <a:ext cx="25273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Rectangle 5"/>
          <p:cNvSpPr>
            <a:spLocks noChangeArrowheads="1"/>
          </p:cNvSpPr>
          <p:nvPr/>
        </p:nvSpPr>
        <p:spPr bwMode="auto">
          <a:xfrm>
            <a:off x="6705600" y="3581400"/>
            <a:ext cx="145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TW">
                <a:solidFill>
                  <a:schemeClr val="tx2"/>
                </a:solidFill>
              </a:rPr>
              <a:t>Cell Splitting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zh-TW" sz="4000">
                <a:latin typeface="Times New Roman" pitchFamily="18" charset="0"/>
              </a:rPr>
              <a:t>Capacity vs Accuracy</a:t>
            </a:r>
          </a:p>
        </p:txBody>
      </p:sp>
      <p:sp>
        <p:nvSpPr>
          <p:cNvPr id="25603" name="Rectangle 3"/>
          <p:cNvSpPr>
            <a:spLocks noGrp="1" noChangeArrowheads="1"/>
          </p:cNvSpPr>
          <p:nvPr>
            <p:ph type="body" idx="1"/>
          </p:nvPr>
        </p:nvSpPr>
        <p:spPr>
          <a:xfrm>
            <a:off x="-36513" y="914400"/>
            <a:ext cx="4402138" cy="4525963"/>
          </a:xfrm>
        </p:spPr>
        <p:txBody>
          <a:bodyPr/>
          <a:lstStyle/>
          <a:p>
            <a:pPr eaLnBrk="1" hangingPunct="1"/>
            <a:r>
              <a:rPr lang="en-US" altLang="zh-TW" sz="2400">
                <a:latin typeface="Times New Roman" pitchFamily="18" charset="0"/>
              </a:rPr>
              <a:t>When N is large</a:t>
            </a:r>
          </a:p>
          <a:p>
            <a:pPr lvl="1" eaLnBrk="1" hangingPunct="1"/>
            <a:r>
              <a:rPr lang="en-US" altLang="zh-TW" sz="2000">
                <a:latin typeface="Times New Roman" pitchFamily="18" charset="0"/>
                <a:sym typeface="Wingdings" pitchFamily="2" charset="2"/>
              </a:rPr>
              <a:t>Less co-channel interference</a:t>
            </a:r>
          </a:p>
          <a:p>
            <a:pPr lvl="1" eaLnBrk="1" hangingPunct="1"/>
            <a:r>
              <a:rPr lang="en-US" altLang="zh-TW" sz="2000">
                <a:latin typeface="Times New Roman" pitchFamily="18" charset="0"/>
                <a:sym typeface="Wingdings" pitchFamily="2" charset="2"/>
              </a:rPr>
              <a:t>Stronger signal to noise ratio</a:t>
            </a:r>
          </a:p>
          <a:p>
            <a:pPr lvl="1" eaLnBrk="1" hangingPunct="1"/>
            <a:r>
              <a:rPr lang="en-US" altLang="zh-TW" sz="2000">
                <a:latin typeface="Times New Roman" pitchFamily="18" charset="0"/>
                <a:sym typeface="Wingdings" pitchFamily="2" charset="2"/>
              </a:rPr>
              <a:t>Smaller cell-site</a:t>
            </a:r>
          </a:p>
          <a:p>
            <a:pPr lvl="1" eaLnBrk="1" hangingPunct="1"/>
            <a:r>
              <a:rPr lang="en-US" altLang="zh-TW" sz="2000">
                <a:latin typeface="Times New Roman" pitchFamily="18" charset="0"/>
                <a:sym typeface="Wingdings" pitchFamily="2" charset="2"/>
              </a:rPr>
              <a:t>More accurate in location estimation</a:t>
            </a:r>
          </a:p>
          <a:p>
            <a:pPr eaLnBrk="1" hangingPunct="1"/>
            <a:r>
              <a:rPr lang="en-US" altLang="zh-TW" sz="2400">
                <a:latin typeface="Times New Roman" pitchFamily="18" charset="0"/>
              </a:rPr>
              <a:t>But require more frequency resources</a:t>
            </a:r>
          </a:p>
          <a:p>
            <a:pPr eaLnBrk="1" hangingPunct="1"/>
            <a:endParaRPr lang="en-US" altLang="zh-TW" sz="2400">
              <a:latin typeface="Times New Roman" pitchFamily="18" charset="0"/>
            </a:endParaRPr>
          </a:p>
          <a:p>
            <a:pPr eaLnBrk="1" hangingPunct="1"/>
            <a:endParaRPr lang="en-US" altLang="zh-TW" sz="2400">
              <a:latin typeface="Times New Roman" pitchFamily="18" charset="0"/>
            </a:endParaRPr>
          </a:p>
        </p:txBody>
      </p:sp>
      <p:sp>
        <p:nvSpPr>
          <p:cNvPr id="25604" name="AutoShape 4"/>
          <p:cNvSpPr>
            <a:spLocks noChangeArrowheads="1"/>
          </p:cNvSpPr>
          <p:nvPr/>
        </p:nvSpPr>
        <p:spPr bwMode="auto">
          <a:xfrm>
            <a:off x="4251325" y="1265238"/>
            <a:ext cx="1219200" cy="914400"/>
          </a:xfrm>
          <a:prstGeom prst="hexagon">
            <a:avLst>
              <a:gd name="adj" fmla="val 33333"/>
              <a:gd name="vf" fmla="val 115470"/>
            </a:avLst>
          </a:prstGeom>
          <a:solidFill>
            <a:schemeClr val="accent1"/>
          </a:solidFill>
          <a:ln w="9525">
            <a:solidFill>
              <a:schemeClr val="tx1"/>
            </a:solidFill>
            <a:miter lim="800000"/>
            <a:headEnd/>
            <a:tailEnd/>
          </a:ln>
        </p:spPr>
        <p:txBody>
          <a:bodyPr wrap="none" anchor="ctr"/>
          <a:lstStyle/>
          <a:p>
            <a:endParaRPr lang="zh-TW" altLang="en-US"/>
          </a:p>
        </p:txBody>
      </p:sp>
      <p:sp>
        <p:nvSpPr>
          <p:cNvPr id="25605" name="AutoShape 5"/>
          <p:cNvSpPr>
            <a:spLocks noChangeArrowheads="1"/>
          </p:cNvSpPr>
          <p:nvPr/>
        </p:nvSpPr>
        <p:spPr bwMode="auto">
          <a:xfrm>
            <a:off x="5165725" y="1798638"/>
            <a:ext cx="1219200" cy="914400"/>
          </a:xfrm>
          <a:prstGeom prst="hexagon">
            <a:avLst>
              <a:gd name="adj" fmla="val 33333"/>
              <a:gd name="vf" fmla="val 115470"/>
            </a:avLst>
          </a:prstGeom>
          <a:solidFill>
            <a:srgbClr val="CCFFCC"/>
          </a:solidFill>
          <a:ln w="9525">
            <a:solidFill>
              <a:schemeClr val="tx1"/>
            </a:solidFill>
            <a:miter lim="800000"/>
            <a:headEnd/>
            <a:tailEnd/>
          </a:ln>
        </p:spPr>
        <p:txBody>
          <a:bodyPr wrap="none" anchor="ctr"/>
          <a:lstStyle/>
          <a:p>
            <a:endParaRPr lang="zh-TW" altLang="en-US"/>
          </a:p>
        </p:txBody>
      </p:sp>
      <p:sp>
        <p:nvSpPr>
          <p:cNvPr id="25606" name="AutoShape 6"/>
          <p:cNvSpPr>
            <a:spLocks noChangeArrowheads="1"/>
          </p:cNvSpPr>
          <p:nvPr/>
        </p:nvSpPr>
        <p:spPr bwMode="auto">
          <a:xfrm>
            <a:off x="6156325" y="1341438"/>
            <a:ext cx="1219200" cy="914400"/>
          </a:xfrm>
          <a:prstGeom prst="hexagon">
            <a:avLst>
              <a:gd name="adj" fmla="val 33333"/>
              <a:gd name="vf" fmla="val 115470"/>
            </a:avLst>
          </a:prstGeom>
          <a:solidFill>
            <a:srgbClr val="FFCC99"/>
          </a:solidFill>
          <a:ln w="9525">
            <a:solidFill>
              <a:schemeClr val="tx1"/>
            </a:solidFill>
            <a:miter lim="800000"/>
            <a:headEnd/>
            <a:tailEnd/>
          </a:ln>
        </p:spPr>
        <p:txBody>
          <a:bodyPr wrap="none" anchor="ctr"/>
          <a:lstStyle/>
          <a:p>
            <a:endParaRPr lang="zh-TW" altLang="en-US"/>
          </a:p>
        </p:txBody>
      </p:sp>
      <p:sp>
        <p:nvSpPr>
          <p:cNvPr id="25607" name="AutoShape 7"/>
          <p:cNvSpPr>
            <a:spLocks noChangeArrowheads="1"/>
          </p:cNvSpPr>
          <p:nvPr/>
        </p:nvSpPr>
        <p:spPr bwMode="auto">
          <a:xfrm>
            <a:off x="4860925" y="1570038"/>
            <a:ext cx="76200" cy="228600"/>
          </a:xfrm>
          <a:prstGeom prst="triangle">
            <a:avLst>
              <a:gd name="adj" fmla="val 50000"/>
            </a:avLst>
          </a:prstGeom>
          <a:solidFill>
            <a:srgbClr val="0000FF"/>
          </a:solidFill>
          <a:ln w="9525">
            <a:solidFill>
              <a:schemeClr val="tx1"/>
            </a:solidFill>
            <a:miter lim="800000"/>
            <a:headEnd/>
            <a:tailEnd/>
          </a:ln>
        </p:spPr>
        <p:txBody>
          <a:bodyPr wrap="none" anchor="ctr"/>
          <a:lstStyle/>
          <a:p>
            <a:endParaRPr lang="zh-TW" altLang="en-US"/>
          </a:p>
        </p:txBody>
      </p:sp>
      <p:sp>
        <p:nvSpPr>
          <p:cNvPr id="25608" name="AutoShape 8"/>
          <p:cNvSpPr>
            <a:spLocks noChangeArrowheads="1"/>
          </p:cNvSpPr>
          <p:nvPr/>
        </p:nvSpPr>
        <p:spPr bwMode="auto">
          <a:xfrm>
            <a:off x="5699125" y="2103438"/>
            <a:ext cx="76200" cy="228600"/>
          </a:xfrm>
          <a:prstGeom prst="triangle">
            <a:avLst>
              <a:gd name="adj" fmla="val 50000"/>
            </a:avLst>
          </a:prstGeom>
          <a:solidFill>
            <a:srgbClr val="339966">
              <a:alpha val="89803"/>
            </a:srgbClr>
          </a:solidFill>
          <a:ln w="9525">
            <a:solidFill>
              <a:schemeClr val="tx1"/>
            </a:solidFill>
            <a:miter lim="800000"/>
            <a:headEnd/>
            <a:tailEnd/>
          </a:ln>
        </p:spPr>
        <p:txBody>
          <a:bodyPr wrap="none" anchor="ctr"/>
          <a:lstStyle/>
          <a:p>
            <a:endParaRPr lang="zh-TW" altLang="en-US"/>
          </a:p>
        </p:txBody>
      </p:sp>
      <p:sp>
        <p:nvSpPr>
          <p:cNvPr id="25609" name="AutoShape 9"/>
          <p:cNvSpPr>
            <a:spLocks noChangeArrowheads="1"/>
          </p:cNvSpPr>
          <p:nvPr/>
        </p:nvSpPr>
        <p:spPr bwMode="auto">
          <a:xfrm>
            <a:off x="6689725" y="1570038"/>
            <a:ext cx="76200" cy="228600"/>
          </a:xfrm>
          <a:prstGeom prst="triangle">
            <a:avLst>
              <a:gd name="adj" fmla="val 50000"/>
            </a:avLst>
          </a:prstGeom>
          <a:solidFill>
            <a:srgbClr val="FF9900"/>
          </a:solidFill>
          <a:ln w="9525">
            <a:solidFill>
              <a:schemeClr val="tx1"/>
            </a:solidFill>
            <a:miter lim="800000"/>
            <a:headEnd/>
            <a:tailEnd/>
          </a:ln>
        </p:spPr>
        <p:txBody>
          <a:bodyPr wrap="none" anchor="ctr"/>
          <a:lstStyle/>
          <a:p>
            <a:endParaRPr lang="zh-TW" altLang="en-US"/>
          </a:p>
        </p:txBody>
      </p:sp>
      <p:sp>
        <p:nvSpPr>
          <p:cNvPr id="25610" name="Text Box 10"/>
          <p:cNvSpPr txBox="1">
            <a:spLocks noChangeArrowheads="1"/>
          </p:cNvSpPr>
          <p:nvPr/>
        </p:nvSpPr>
        <p:spPr bwMode="auto">
          <a:xfrm>
            <a:off x="3854450" y="2063750"/>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910MHz</a:t>
            </a:r>
          </a:p>
        </p:txBody>
      </p:sp>
      <p:sp>
        <p:nvSpPr>
          <p:cNvPr id="25611" name="Text Box 11"/>
          <p:cNvSpPr txBox="1">
            <a:spLocks noChangeArrowheads="1"/>
          </p:cNvSpPr>
          <p:nvPr/>
        </p:nvSpPr>
        <p:spPr bwMode="auto">
          <a:xfrm>
            <a:off x="5013325" y="2422525"/>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915MHz</a:t>
            </a:r>
          </a:p>
        </p:txBody>
      </p:sp>
      <p:sp>
        <p:nvSpPr>
          <p:cNvPr id="25612" name="Text Box 12"/>
          <p:cNvSpPr txBox="1">
            <a:spLocks noChangeArrowheads="1"/>
          </p:cNvSpPr>
          <p:nvPr/>
        </p:nvSpPr>
        <p:spPr bwMode="auto">
          <a:xfrm>
            <a:off x="6308725" y="1951038"/>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920MHz</a:t>
            </a:r>
          </a:p>
        </p:txBody>
      </p:sp>
      <p:sp>
        <p:nvSpPr>
          <p:cNvPr id="25613" name="AutoShape 13"/>
          <p:cNvSpPr>
            <a:spLocks noChangeArrowheads="1"/>
          </p:cNvSpPr>
          <p:nvPr/>
        </p:nvSpPr>
        <p:spPr bwMode="auto">
          <a:xfrm>
            <a:off x="7146925" y="1798638"/>
            <a:ext cx="1219200" cy="914400"/>
          </a:xfrm>
          <a:prstGeom prst="hexagon">
            <a:avLst>
              <a:gd name="adj" fmla="val 33333"/>
              <a:gd name="vf" fmla="val 115470"/>
            </a:avLst>
          </a:prstGeom>
          <a:solidFill>
            <a:schemeClr val="accent1"/>
          </a:solidFill>
          <a:ln w="9525">
            <a:solidFill>
              <a:schemeClr val="tx1"/>
            </a:solidFill>
            <a:miter lim="800000"/>
            <a:headEnd/>
            <a:tailEnd/>
          </a:ln>
        </p:spPr>
        <p:txBody>
          <a:bodyPr wrap="none" anchor="ctr"/>
          <a:lstStyle/>
          <a:p>
            <a:endParaRPr lang="zh-TW" altLang="en-US"/>
          </a:p>
        </p:txBody>
      </p:sp>
      <p:sp>
        <p:nvSpPr>
          <p:cNvPr id="25614" name="AutoShape 14"/>
          <p:cNvSpPr>
            <a:spLocks noChangeArrowheads="1"/>
          </p:cNvSpPr>
          <p:nvPr/>
        </p:nvSpPr>
        <p:spPr bwMode="auto">
          <a:xfrm>
            <a:off x="7756525" y="2103438"/>
            <a:ext cx="76200" cy="228600"/>
          </a:xfrm>
          <a:prstGeom prst="triangle">
            <a:avLst>
              <a:gd name="adj" fmla="val 50000"/>
            </a:avLst>
          </a:prstGeom>
          <a:solidFill>
            <a:srgbClr val="0000FF"/>
          </a:solidFill>
          <a:ln w="9525">
            <a:solidFill>
              <a:schemeClr val="tx1"/>
            </a:solidFill>
            <a:miter lim="800000"/>
            <a:headEnd/>
            <a:tailEnd/>
          </a:ln>
        </p:spPr>
        <p:txBody>
          <a:bodyPr wrap="none" anchor="ctr"/>
          <a:lstStyle/>
          <a:p>
            <a:endParaRPr lang="zh-TW" altLang="en-US"/>
          </a:p>
        </p:txBody>
      </p:sp>
      <p:sp>
        <p:nvSpPr>
          <p:cNvPr id="25615" name="Text Box 15"/>
          <p:cNvSpPr txBox="1">
            <a:spLocks noChangeArrowheads="1"/>
          </p:cNvSpPr>
          <p:nvPr/>
        </p:nvSpPr>
        <p:spPr bwMode="auto">
          <a:xfrm>
            <a:off x="7832725" y="2713038"/>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charset="0"/>
                <a:ea typeface="新細明體" charset="-120"/>
              </a:defRPr>
            </a:lvl1pPr>
            <a:lvl2pPr marL="742950" indent="-285750" eaLnBrk="0" hangingPunct="0">
              <a:defRPr kumimoji="1">
                <a:solidFill>
                  <a:schemeClr val="tx1"/>
                </a:solidFill>
                <a:latin typeface="Arial" charset="0"/>
                <a:ea typeface="新細明體" charset="-120"/>
              </a:defRPr>
            </a:lvl2pPr>
            <a:lvl3pPr marL="1143000" indent="-228600" eaLnBrk="0" hangingPunct="0">
              <a:defRPr kumimoji="1">
                <a:solidFill>
                  <a:schemeClr val="tx1"/>
                </a:solidFill>
                <a:latin typeface="Arial" charset="0"/>
                <a:ea typeface="新細明體" charset="-120"/>
              </a:defRPr>
            </a:lvl3pPr>
            <a:lvl4pPr marL="1600200" indent="-228600" eaLnBrk="0" hangingPunct="0">
              <a:defRPr kumimoji="1">
                <a:solidFill>
                  <a:schemeClr val="tx1"/>
                </a:solidFill>
                <a:latin typeface="Arial" charset="0"/>
                <a:ea typeface="新細明體" charset="-120"/>
              </a:defRPr>
            </a:lvl4pPr>
            <a:lvl5pPr marL="2057400" indent="-228600" eaLnBrk="0" hangingPunct="0">
              <a:defRPr kumimoji="1">
                <a:solidFill>
                  <a:schemeClr val="tx1"/>
                </a:solidFill>
                <a:latin typeface="Arial" charset="0"/>
                <a:ea typeface="新細明體" charset="-120"/>
              </a:defRPr>
            </a:lvl5pPr>
            <a:lvl6pPr marL="2514600" indent="-228600" eaLnBrk="0" fontAlgn="base" hangingPunct="0">
              <a:spcBef>
                <a:spcPct val="0"/>
              </a:spcBef>
              <a:spcAft>
                <a:spcPct val="0"/>
              </a:spcAft>
              <a:defRPr kumimoji="1">
                <a:solidFill>
                  <a:schemeClr val="tx1"/>
                </a:solidFill>
                <a:latin typeface="Arial" charset="0"/>
                <a:ea typeface="新細明體" charset="-120"/>
              </a:defRPr>
            </a:lvl6pPr>
            <a:lvl7pPr marL="2971800" indent="-228600" eaLnBrk="0" fontAlgn="base" hangingPunct="0">
              <a:spcBef>
                <a:spcPct val="0"/>
              </a:spcBef>
              <a:spcAft>
                <a:spcPct val="0"/>
              </a:spcAft>
              <a:defRPr kumimoji="1">
                <a:solidFill>
                  <a:schemeClr val="tx1"/>
                </a:solidFill>
                <a:latin typeface="Arial" charset="0"/>
                <a:ea typeface="新細明體" charset="-120"/>
              </a:defRPr>
            </a:lvl7pPr>
            <a:lvl8pPr marL="3429000" indent="-228600" eaLnBrk="0" fontAlgn="base" hangingPunct="0">
              <a:spcBef>
                <a:spcPct val="0"/>
              </a:spcBef>
              <a:spcAft>
                <a:spcPct val="0"/>
              </a:spcAft>
              <a:defRPr kumimoji="1">
                <a:solidFill>
                  <a:schemeClr val="tx1"/>
                </a:solidFill>
                <a:latin typeface="Arial" charset="0"/>
                <a:ea typeface="新細明體" charset="-120"/>
              </a:defRPr>
            </a:lvl8pPr>
            <a:lvl9pPr marL="3886200" indent="-228600" eaLnBrk="0" fontAlgn="base" hangingPunct="0">
              <a:spcBef>
                <a:spcPct val="0"/>
              </a:spcBef>
              <a:spcAft>
                <a:spcPct val="0"/>
              </a:spcAft>
              <a:defRPr kumimoji="1">
                <a:solidFill>
                  <a:schemeClr val="tx1"/>
                </a:solidFill>
                <a:latin typeface="Arial" charset="0"/>
                <a:ea typeface="新細明體" charset="-120"/>
              </a:defRPr>
            </a:lvl9pPr>
          </a:lstStyle>
          <a:p>
            <a:pPr eaLnBrk="1" hangingPunct="1"/>
            <a:r>
              <a:rPr kumimoji="0" lang="en-US" altLang="zh-TW"/>
              <a:t>910MHz</a:t>
            </a:r>
          </a:p>
        </p:txBody>
      </p:sp>
      <p:sp>
        <p:nvSpPr>
          <p:cNvPr id="25616" name="Freeform 16"/>
          <p:cNvSpPr>
            <a:spLocks/>
          </p:cNvSpPr>
          <p:nvPr/>
        </p:nvSpPr>
        <p:spPr bwMode="auto">
          <a:xfrm>
            <a:off x="4784725" y="1836738"/>
            <a:ext cx="2667000" cy="749300"/>
          </a:xfrm>
          <a:custGeom>
            <a:avLst/>
            <a:gdLst>
              <a:gd name="T0" fmla="*/ 0 w 1680"/>
              <a:gd name="T1" fmla="*/ 24 h 472"/>
              <a:gd name="T2" fmla="*/ 288 w 1680"/>
              <a:gd name="T3" fmla="*/ 24 h 472"/>
              <a:gd name="T4" fmla="*/ 480 w 1680"/>
              <a:gd name="T5" fmla="*/ 168 h 472"/>
              <a:gd name="T6" fmla="*/ 864 w 1680"/>
              <a:gd name="T7" fmla="*/ 24 h 472"/>
              <a:gd name="T8" fmla="*/ 864 w 1680"/>
              <a:gd name="T9" fmla="*/ 264 h 472"/>
              <a:gd name="T10" fmla="*/ 1296 w 1680"/>
              <a:gd name="T11" fmla="*/ 216 h 472"/>
              <a:gd name="T12" fmla="*/ 1440 w 1680"/>
              <a:gd name="T13" fmla="*/ 456 h 472"/>
              <a:gd name="T14" fmla="*/ 1680 w 1680"/>
              <a:gd name="T15" fmla="*/ 312 h 472"/>
              <a:gd name="T16" fmla="*/ 0 60000 65536"/>
              <a:gd name="T17" fmla="*/ 0 60000 65536"/>
              <a:gd name="T18" fmla="*/ 0 60000 65536"/>
              <a:gd name="T19" fmla="*/ 0 60000 65536"/>
              <a:gd name="T20" fmla="*/ 0 60000 65536"/>
              <a:gd name="T21" fmla="*/ 0 60000 65536"/>
              <a:gd name="T22" fmla="*/ 0 60000 65536"/>
              <a:gd name="T23" fmla="*/ 0 60000 65536"/>
              <a:gd name="T24" fmla="*/ 0 w 1680"/>
              <a:gd name="T25" fmla="*/ 0 h 472"/>
              <a:gd name="T26" fmla="*/ 1680 w 1680"/>
              <a:gd name="T27" fmla="*/ 472 h 4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80" h="472">
                <a:moveTo>
                  <a:pt x="0" y="24"/>
                </a:moveTo>
                <a:cubicBezTo>
                  <a:pt x="104" y="12"/>
                  <a:pt x="208" y="0"/>
                  <a:pt x="288" y="24"/>
                </a:cubicBezTo>
                <a:cubicBezTo>
                  <a:pt x="368" y="48"/>
                  <a:pt x="384" y="168"/>
                  <a:pt x="480" y="168"/>
                </a:cubicBezTo>
                <a:cubicBezTo>
                  <a:pt x="576" y="168"/>
                  <a:pt x="800" y="8"/>
                  <a:pt x="864" y="24"/>
                </a:cubicBezTo>
                <a:cubicBezTo>
                  <a:pt x="928" y="40"/>
                  <a:pt x="792" y="232"/>
                  <a:pt x="864" y="264"/>
                </a:cubicBezTo>
                <a:cubicBezTo>
                  <a:pt x="936" y="296"/>
                  <a:pt x="1200" y="184"/>
                  <a:pt x="1296" y="216"/>
                </a:cubicBezTo>
                <a:cubicBezTo>
                  <a:pt x="1392" y="248"/>
                  <a:pt x="1376" y="440"/>
                  <a:pt x="1440" y="456"/>
                </a:cubicBezTo>
                <a:cubicBezTo>
                  <a:pt x="1504" y="472"/>
                  <a:pt x="1640" y="336"/>
                  <a:pt x="1680" y="312"/>
                </a:cubicBezTo>
              </a:path>
            </a:pathLst>
          </a:custGeom>
          <a:noFill/>
          <a:ln w="12700" cap="flat">
            <a:solidFill>
              <a:srgbClr val="0000FF"/>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HK" altLang="en-US"/>
          </a:p>
        </p:txBody>
      </p:sp>
      <p:sp>
        <p:nvSpPr>
          <p:cNvPr id="25617" name="Line 17"/>
          <p:cNvSpPr>
            <a:spLocks noChangeShapeType="1"/>
          </p:cNvSpPr>
          <p:nvPr/>
        </p:nvSpPr>
        <p:spPr bwMode="auto">
          <a:xfrm flipH="1" flipV="1">
            <a:off x="7527925" y="2332038"/>
            <a:ext cx="228600" cy="7620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HK" altLang="en-US"/>
          </a:p>
        </p:txBody>
      </p:sp>
      <p:sp>
        <p:nvSpPr>
          <p:cNvPr id="25618" name="Oval 18"/>
          <p:cNvSpPr>
            <a:spLocks noChangeArrowheads="1"/>
          </p:cNvSpPr>
          <p:nvPr/>
        </p:nvSpPr>
        <p:spPr bwMode="auto">
          <a:xfrm>
            <a:off x="7299325" y="2255838"/>
            <a:ext cx="228600" cy="76200"/>
          </a:xfrm>
          <a:prstGeom prst="ellipse">
            <a:avLst/>
          </a:prstGeom>
          <a:solidFill>
            <a:srgbClr val="808080"/>
          </a:solidFill>
          <a:ln w="9525">
            <a:solidFill>
              <a:schemeClr val="tx1"/>
            </a:solidFill>
            <a:round/>
            <a:headEnd/>
            <a:tailEnd/>
          </a:ln>
        </p:spPr>
        <p:txBody>
          <a:bodyPr wrap="none" anchor="ctr"/>
          <a:lstStyle/>
          <a:p>
            <a:endParaRPr lang="zh-TW" altLang="en-US"/>
          </a:p>
        </p:txBody>
      </p:sp>
      <p:sp>
        <p:nvSpPr>
          <p:cNvPr id="25619" name="Rectangle 19"/>
          <p:cNvSpPr>
            <a:spLocks noChangeArrowheads="1"/>
          </p:cNvSpPr>
          <p:nvPr/>
        </p:nvSpPr>
        <p:spPr bwMode="auto">
          <a:xfrm>
            <a:off x="6226175" y="2484438"/>
            <a:ext cx="145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0" lang="en-US" altLang="zh-TW"/>
              <a:t>Co-channel</a:t>
            </a:r>
          </a:p>
          <a:p>
            <a:r>
              <a:rPr kumimoji="0" lang="en-US" altLang="zh-TW"/>
              <a:t> interference</a:t>
            </a:r>
          </a:p>
        </p:txBody>
      </p:sp>
      <p:pic>
        <p:nvPicPr>
          <p:cNvPr id="25620"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3960813"/>
            <a:ext cx="5113337"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74650" y="255588"/>
            <a:ext cx="8229600" cy="581025"/>
          </a:xfrm>
        </p:spPr>
        <p:txBody>
          <a:bodyPr/>
          <a:lstStyle/>
          <a:p>
            <a:pPr eaLnBrk="1" hangingPunct="1"/>
            <a:r>
              <a:rPr lang="en-US" altLang="zh-TW" sz="3200">
                <a:latin typeface="Times New Roman" pitchFamily="18" charset="0"/>
              </a:rPr>
              <a:t>Methodologies for location estimation</a:t>
            </a:r>
          </a:p>
        </p:txBody>
      </p:sp>
      <p:sp>
        <p:nvSpPr>
          <p:cNvPr id="26627" name="Rectangle 3"/>
          <p:cNvSpPr>
            <a:spLocks noGrp="1" noChangeArrowheads="1"/>
          </p:cNvSpPr>
          <p:nvPr>
            <p:ph type="body" idx="1"/>
          </p:nvPr>
        </p:nvSpPr>
        <p:spPr>
          <a:xfrm>
            <a:off x="684213" y="1484313"/>
            <a:ext cx="4103687" cy="4319587"/>
          </a:xfrm>
        </p:spPr>
        <p:txBody>
          <a:bodyPr/>
          <a:lstStyle/>
          <a:p>
            <a:pPr eaLnBrk="1" hangingPunct="1"/>
            <a:r>
              <a:rPr lang="tr-TR" altLang="zh-TW" sz="2800">
                <a:latin typeface="Times New Roman" pitchFamily="18" charset="0"/>
              </a:rPr>
              <a:t>Time of arrival (TOA)</a:t>
            </a:r>
            <a:endParaRPr lang="en-US" altLang="zh-TW" sz="2800">
              <a:latin typeface="Times New Roman" pitchFamily="18" charset="0"/>
            </a:endParaRPr>
          </a:p>
          <a:p>
            <a:pPr lvl="1" eaLnBrk="1" hangingPunct="1"/>
            <a:r>
              <a:rPr lang="en-US" altLang="zh-TW" sz="2400">
                <a:latin typeface="Times New Roman" pitchFamily="18" charset="0"/>
              </a:rPr>
              <a:t>Time predict distance</a:t>
            </a:r>
          </a:p>
          <a:p>
            <a:pPr lvl="1" eaLnBrk="1" hangingPunct="1"/>
            <a:r>
              <a:rPr lang="en-US" altLang="zh-TW" sz="2400">
                <a:latin typeface="Times New Roman" pitchFamily="18" charset="0"/>
              </a:rPr>
              <a:t>3 distance data locate a point</a:t>
            </a:r>
          </a:p>
          <a:p>
            <a:pPr eaLnBrk="1" hangingPunct="1"/>
            <a:endParaRPr lang="tr-TR" altLang="zh-TW" sz="2800">
              <a:latin typeface="Times New Roman" pitchFamily="18" charset="0"/>
            </a:endParaRPr>
          </a:p>
          <a:p>
            <a:pPr eaLnBrk="1" hangingPunct="1"/>
            <a:r>
              <a:rPr lang="tr-TR" altLang="zh-TW" sz="2800">
                <a:latin typeface="Times New Roman" pitchFamily="18" charset="0"/>
              </a:rPr>
              <a:t>Angle of arrival (AOA)</a:t>
            </a:r>
            <a:endParaRPr lang="en-US" altLang="zh-TW" sz="2800">
              <a:latin typeface="Times New Roman" pitchFamily="18" charset="0"/>
            </a:endParaRPr>
          </a:p>
          <a:p>
            <a:pPr lvl="1" eaLnBrk="1" hangingPunct="1"/>
            <a:r>
              <a:rPr lang="en-US" altLang="zh-TW" sz="2400">
                <a:latin typeface="Times New Roman" pitchFamily="18" charset="0"/>
              </a:rPr>
              <a:t>3 angles location a point</a:t>
            </a:r>
          </a:p>
          <a:p>
            <a:pPr eaLnBrk="1" hangingPunct="1"/>
            <a:endParaRPr lang="tr-TR" altLang="zh-TW" sz="2400">
              <a:latin typeface="Times New Roman" pitchFamily="18" charset="0"/>
            </a:endParaRPr>
          </a:p>
        </p:txBody>
      </p:sp>
      <p:pic>
        <p:nvPicPr>
          <p:cNvPr id="26628" name="Picture 4" descr="22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1341438"/>
            <a:ext cx="2952750" cy="265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5" descr="22_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4941888"/>
            <a:ext cx="5826125"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zh-TW" sz="2800">
                <a:latin typeface="Times New Roman" pitchFamily="18" charset="0"/>
              </a:rPr>
              <a:t>Methodologies for location estimation</a:t>
            </a:r>
          </a:p>
        </p:txBody>
      </p:sp>
      <p:sp>
        <p:nvSpPr>
          <p:cNvPr id="27651" name="Rectangle 3"/>
          <p:cNvSpPr>
            <a:spLocks noGrp="1" noChangeArrowheads="1"/>
          </p:cNvSpPr>
          <p:nvPr>
            <p:ph type="body" idx="1"/>
          </p:nvPr>
        </p:nvSpPr>
        <p:spPr/>
        <p:txBody>
          <a:bodyPr/>
          <a:lstStyle/>
          <a:p>
            <a:pPr eaLnBrk="1" hangingPunct="1"/>
            <a:r>
              <a:rPr lang="tr-TR" altLang="zh-TW">
                <a:latin typeface="Times New Roman" pitchFamily="18" charset="0"/>
              </a:rPr>
              <a:t>Time difference of arrival (TDOA)</a:t>
            </a:r>
            <a:endParaRPr lang="en-US" altLang="zh-TW">
              <a:latin typeface="Times New Roman" pitchFamily="18" charset="0"/>
            </a:endParaRPr>
          </a:p>
          <a:p>
            <a:pPr lvl="1" eaLnBrk="1" hangingPunct="1"/>
            <a:r>
              <a:rPr lang="en-US" altLang="zh-TW">
                <a:latin typeface="Times New Roman" pitchFamily="18" charset="0"/>
              </a:rPr>
              <a:t>If it can only access two Base-station, distance between base-stations provide the 3</a:t>
            </a:r>
            <a:r>
              <a:rPr lang="en-US" altLang="zh-TW" baseline="30000">
                <a:latin typeface="Times New Roman" pitchFamily="18" charset="0"/>
              </a:rPr>
              <a:t>rd</a:t>
            </a:r>
            <a:r>
              <a:rPr lang="en-US" altLang="zh-TW">
                <a:latin typeface="Times New Roman" pitchFamily="18" charset="0"/>
              </a:rPr>
              <a:t> information</a:t>
            </a:r>
          </a:p>
        </p:txBody>
      </p:sp>
      <p:pic>
        <p:nvPicPr>
          <p:cNvPr id="27652" name="Picture 4" descr="22_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6400" y="3284538"/>
            <a:ext cx="3228975"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zh-TW" sz="2800">
                <a:latin typeface="Times New Roman" pitchFamily="18" charset="0"/>
              </a:rPr>
              <a:t>Methodologies for location estimation</a:t>
            </a:r>
            <a:endParaRPr lang="tr-TR" altLang="zh-TW" sz="2800">
              <a:latin typeface="Times New Roman" pitchFamily="18" charset="0"/>
            </a:endParaRPr>
          </a:p>
        </p:txBody>
      </p:sp>
      <p:sp>
        <p:nvSpPr>
          <p:cNvPr id="28675" name="Rectangle 3"/>
          <p:cNvSpPr>
            <a:spLocks noGrp="1" noChangeArrowheads="1"/>
          </p:cNvSpPr>
          <p:nvPr>
            <p:ph type="body" idx="1"/>
          </p:nvPr>
        </p:nvSpPr>
        <p:spPr>
          <a:xfrm>
            <a:off x="539750" y="1412875"/>
            <a:ext cx="5111750" cy="4525963"/>
          </a:xfrm>
        </p:spPr>
        <p:txBody>
          <a:bodyPr/>
          <a:lstStyle/>
          <a:p>
            <a:pPr eaLnBrk="1" hangingPunct="1">
              <a:lnSpc>
                <a:spcPct val="90000"/>
              </a:lnSpc>
            </a:pPr>
            <a:r>
              <a:rPr lang="tr-TR" altLang="zh-TW">
                <a:latin typeface="Times New Roman" pitchFamily="18" charset="0"/>
              </a:rPr>
              <a:t>Enhanced observed time difference (EOTD)</a:t>
            </a:r>
          </a:p>
          <a:p>
            <a:pPr eaLnBrk="1" hangingPunct="1">
              <a:lnSpc>
                <a:spcPct val="90000"/>
              </a:lnSpc>
            </a:pPr>
            <a:r>
              <a:rPr lang="tr-TR" altLang="zh-TW">
                <a:latin typeface="Times New Roman" pitchFamily="18" charset="0"/>
              </a:rPr>
              <a:t>Cell global identification (CGI) and Timing advance (TA)</a:t>
            </a:r>
          </a:p>
          <a:p>
            <a:pPr eaLnBrk="1" hangingPunct="1">
              <a:lnSpc>
                <a:spcPct val="90000"/>
              </a:lnSpc>
            </a:pPr>
            <a:r>
              <a:rPr lang="tr-TR" altLang="zh-TW">
                <a:latin typeface="Times New Roman" pitchFamily="18" charset="0"/>
              </a:rPr>
              <a:t>Signal strength (SS)</a:t>
            </a:r>
          </a:p>
          <a:p>
            <a:pPr eaLnBrk="1" hangingPunct="1">
              <a:lnSpc>
                <a:spcPct val="90000"/>
              </a:lnSpc>
            </a:pPr>
            <a:r>
              <a:rPr lang="en-US" altLang="zh-TW">
                <a:latin typeface="Times New Roman" pitchFamily="18" charset="0"/>
              </a:rPr>
              <a:t>Global Positioning System </a:t>
            </a:r>
            <a:r>
              <a:rPr lang="tr-TR" altLang="zh-TW">
                <a:latin typeface="Times New Roman" pitchFamily="18" charset="0"/>
              </a:rPr>
              <a:t>(GPS)</a:t>
            </a:r>
            <a:endParaRPr lang="en-US" altLang="zh-TW">
              <a:latin typeface="Times New Roman" pitchFamily="18" charset="0"/>
            </a:endParaRPr>
          </a:p>
          <a:p>
            <a:pPr eaLnBrk="1" hangingPunct="1">
              <a:lnSpc>
                <a:spcPct val="90000"/>
              </a:lnSpc>
            </a:pPr>
            <a:r>
              <a:rPr lang="en-US" altLang="zh-TW">
                <a:latin typeface="Times New Roman" pitchFamily="18" charset="0"/>
              </a:rPr>
              <a:t>Control Plane Locating</a:t>
            </a:r>
          </a:p>
        </p:txBody>
      </p:sp>
      <p:pic>
        <p:nvPicPr>
          <p:cNvPr id="28676" name="Picture 4" descr="22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2300" y="4292600"/>
            <a:ext cx="2470150" cy="213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2276475"/>
            <a:ext cx="105727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zh-TW" sz="2800">
                <a:latin typeface="Times New Roman" pitchFamily="18" charset="0"/>
              </a:rPr>
              <a:t>Methodologies for location estimation</a:t>
            </a:r>
          </a:p>
        </p:txBody>
      </p:sp>
      <p:sp>
        <p:nvSpPr>
          <p:cNvPr id="29699" name="Rectangle 3"/>
          <p:cNvSpPr>
            <a:spLocks noGrp="1" noChangeArrowheads="1"/>
          </p:cNvSpPr>
          <p:nvPr>
            <p:ph type="body" idx="1"/>
          </p:nvPr>
        </p:nvSpPr>
        <p:spPr>
          <a:xfrm>
            <a:off x="457200" y="1268413"/>
            <a:ext cx="8229600" cy="4525962"/>
          </a:xfrm>
        </p:spPr>
        <p:txBody>
          <a:bodyPr/>
          <a:lstStyle/>
          <a:p>
            <a:pPr eaLnBrk="1" hangingPunct="1">
              <a:lnSpc>
                <a:spcPct val="80000"/>
              </a:lnSpc>
            </a:pPr>
            <a:r>
              <a:rPr lang="en-US" altLang="zh-TW" sz="2800">
                <a:latin typeface="Times New Roman" pitchFamily="18" charset="0"/>
              </a:rPr>
              <a:t>Control plane locating</a:t>
            </a:r>
          </a:p>
          <a:p>
            <a:pPr lvl="1" eaLnBrk="1" hangingPunct="1">
              <a:lnSpc>
                <a:spcPct val="80000"/>
              </a:lnSpc>
            </a:pPr>
            <a:r>
              <a:rPr lang="en-US" altLang="zh-TW" sz="2400">
                <a:latin typeface="Times New Roman" pitchFamily="18" charset="0"/>
              </a:rPr>
              <a:t>Service provider gets the location based on the radio signal delay of the closest cell-phone towers (for phones without GPS features) which can be quite slow as it uses the 'voice control' channel.</a:t>
            </a:r>
          </a:p>
          <a:p>
            <a:pPr lvl="1" eaLnBrk="1" hangingPunct="1">
              <a:lnSpc>
                <a:spcPct val="80000"/>
              </a:lnSpc>
            </a:pPr>
            <a:r>
              <a:rPr lang="en-US" altLang="zh-TW" sz="2400">
                <a:latin typeface="Times New Roman" pitchFamily="18" charset="0"/>
              </a:rPr>
              <a:t>Some primitive LBS services use a single base station, with a 'radius' of inaccuracy, to determine a phone's location. </a:t>
            </a:r>
            <a:br>
              <a:rPr lang="en-US" altLang="zh-TW" sz="2400">
                <a:latin typeface="Times New Roman" pitchFamily="18" charset="0"/>
              </a:rPr>
            </a:br>
            <a:r>
              <a:rPr lang="en-US" altLang="zh-TW" sz="2400">
                <a:latin typeface="Times New Roman" pitchFamily="18" charset="0"/>
              </a:rPr>
              <a:t>This technique was the basis of the E-911 mandate and is still used to locate cell phones as a safety measure.</a:t>
            </a:r>
          </a:p>
          <a:p>
            <a:pPr lvl="1" eaLnBrk="1" hangingPunct="1">
              <a:lnSpc>
                <a:spcPct val="80000"/>
              </a:lnSpc>
            </a:pPr>
            <a:endParaRPr lang="en-US" altLang="zh-TW" sz="2400">
              <a:latin typeface="Times New Roman" pitchFamily="18" charset="0"/>
            </a:endParaRPr>
          </a:p>
          <a:p>
            <a:pPr lvl="1" eaLnBrk="1" hangingPunct="1">
              <a:lnSpc>
                <a:spcPct val="80000"/>
              </a:lnSpc>
            </a:pPr>
            <a:endParaRPr lang="en-US" altLang="zh-TW"/>
          </a:p>
          <a:p>
            <a:pPr eaLnBrk="1" hangingPunct="1">
              <a:lnSpc>
                <a:spcPct val="80000"/>
              </a:lnSpc>
            </a:pPr>
            <a:r>
              <a:rPr lang="en-US" altLang="zh-TW" sz="2400"/>
              <a:t>More details</a:t>
            </a:r>
          </a:p>
          <a:p>
            <a:pPr lvl="1" eaLnBrk="1" hangingPunct="1">
              <a:lnSpc>
                <a:spcPct val="80000"/>
              </a:lnSpc>
            </a:pPr>
            <a:r>
              <a:rPr lang="en-US" altLang="zh-TW" sz="2000"/>
              <a:t>http://www.hkwtia.org/</a:t>
            </a:r>
          </a:p>
        </p:txBody>
      </p:sp>
      <p:pic>
        <p:nvPicPr>
          <p:cNvPr id="297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438" y="4194175"/>
            <a:ext cx="4286250"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ltLang="zh-TW" sz="2800">
                <a:latin typeface="Times New Roman" pitchFamily="18" charset="0"/>
              </a:rPr>
              <a:t>Error of location base estimation</a:t>
            </a:r>
          </a:p>
        </p:txBody>
      </p:sp>
      <p:graphicFrame>
        <p:nvGraphicFramePr>
          <p:cNvPr id="1026" name="Object 1566"/>
          <p:cNvGraphicFramePr>
            <a:graphicFrameLocks noGrp="1" noChangeAspect="1"/>
          </p:cNvGraphicFramePr>
          <p:nvPr>
            <p:ph idx="1"/>
          </p:nvPr>
        </p:nvGraphicFramePr>
        <p:xfrm>
          <a:off x="3995738" y="2708275"/>
          <a:ext cx="4918075" cy="4051300"/>
        </p:xfrm>
        <a:graphic>
          <a:graphicData uri="http://schemas.openxmlformats.org/presentationml/2006/ole">
            <mc:AlternateContent xmlns:mc="http://schemas.openxmlformats.org/markup-compatibility/2006">
              <mc:Choice xmlns:v="urn:schemas-microsoft-com:vml" Requires="v">
                <p:oleObj name="Picture" r:id="rId3" imgW="6121440" imgH="5041800" progId="StaticMetafile">
                  <p:embed/>
                </p:oleObj>
              </mc:Choice>
              <mc:Fallback>
                <p:oleObj name="Picture" r:id="rId3" imgW="6121440" imgH="5041800" progId="StaticMetafile">
                  <p:embed/>
                  <p:pic>
                    <p:nvPicPr>
                      <p:cNvPr id="0" name="Object 15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2708275"/>
                        <a:ext cx="4918075" cy="405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28" name="Picture 15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4221163"/>
            <a:ext cx="1770063"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Oval 1570"/>
          <p:cNvSpPr>
            <a:spLocks noChangeArrowheads="1"/>
          </p:cNvSpPr>
          <p:nvPr/>
        </p:nvSpPr>
        <p:spPr bwMode="auto">
          <a:xfrm>
            <a:off x="1116013" y="5949950"/>
            <a:ext cx="215900" cy="215900"/>
          </a:xfrm>
          <a:prstGeom prst="ellipse">
            <a:avLst/>
          </a:prstGeom>
          <a:solidFill>
            <a:schemeClr val="accent1"/>
          </a:solidFill>
          <a:ln w="9525">
            <a:solidFill>
              <a:schemeClr val="tx1"/>
            </a:solidFill>
            <a:round/>
            <a:headEnd/>
            <a:tailEnd/>
          </a:ln>
        </p:spPr>
        <p:txBody>
          <a:bodyPr wrap="none" anchor="ctr"/>
          <a:lstStyle/>
          <a:p>
            <a:endParaRPr lang="zh-TW" altLang="en-US"/>
          </a:p>
        </p:txBody>
      </p:sp>
      <p:sp>
        <p:nvSpPr>
          <p:cNvPr id="1030" name="Oval 1571"/>
          <p:cNvSpPr>
            <a:spLocks noChangeArrowheads="1"/>
          </p:cNvSpPr>
          <p:nvPr/>
        </p:nvSpPr>
        <p:spPr bwMode="auto">
          <a:xfrm>
            <a:off x="1116013" y="5300663"/>
            <a:ext cx="215900" cy="215900"/>
          </a:xfrm>
          <a:prstGeom prst="ellipse">
            <a:avLst/>
          </a:prstGeom>
          <a:solidFill>
            <a:srgbClr val="FF0000"/>
          </a:solidFill>
          <a:ln w="9525">
            <a:solidFill>
              <a:schemeClr val="tx1"/>
            </a:solidFill>
            <a:round/>
            <a:headEnd/>
            <a:tailEnd/>
          </a:ln>
        </p:spPr>
        <p:txBody>
          <a:bodyPr wrap="none" anchor="ctr"/>
          <a:lstStyle/>
          <a:p>
            <a:endParaRPr lang="zh-TW" altLang="en-US"/>
          </a:p>
        </p:txBody>
      </p:sp>
      <p:sp>
        <p:nvSpPr>
          <p:cNvPr id="1031" name="Rectangle 1572"/>
          <p:cNvSpPr>
            <a:spLocks noChangeArrowheads="1"/>
          </p:cNvSpPr>
          <p:nvPr/>
        </p:nvSpPr>
        <p:spPr bwMode="auto">
          <a:xfrm>
            <a:off x="250825" y="1125538"/>
            <a:ext cx="4608513"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Tx/>
              <a:buChar char="•"/>
            </a:pPr>
            <a:r>
              <a:rPr lang="en-US" altLang="zh-TW" sz="2800">
                <a:latin typeface="Times New Roman" pitchFamily="18" charset="0"/>
              </a:rPr>
              <a:t>Scattering</a:t>
            </a:r>
          </a:p>
          <a:p>
            <a:pPr marL="342900" indent="-342900">
              <a:spcBef>
                <a:spcPct val="20000"/>
              </a:spcBef>
              <a:buFontTx/>
              <a:buChar char="•"/>
            </a:pPr>
            <a:r>
              <a:rPr lang="en-US" altLang="zh-TW" sz="2800">
                <a:latin typeface="Times New Roman" pitchFamily="18" charset="0"/>
              </a:rPr>
              <a:t>Shadowing</a:t>
            </a:r>
          </a:p>
          <a:p>
            <a:pPr marL="342900" indent="-342900">
              <a:spcBef>
                <a:spcPct val="20000"/>
              </a:spcBef>
              <a:buFontTx/>
              <a:buChar char="•"/>
            </a:pPr>
            <a:r>
              <a:rPr lang="en-US" altLang="zh-TW" sz="2800">
                <a:latin typeface="Times New Roman" pitchFamily="18" charset="0"/>
              </a:rPr>
              <a:t>Reflection</a:t>
            </a:r>
          </a:p>
          <a:p>
            <a:pPr marL="342900" indent="-342900">
              <a:spcBef>
                <a:spcPct val="20000"/>
              </a:spcBef>
              <a:buFontTx/>
              <a:buChar char="•"/>
            </a:pPr>
            <a:r>
              <a:rPr lang="en-US" altLang="zh-TW" sz="2800">
                <a:latin typeface="Times New Roman" pitchFamily="18" charset="0"/>
              </a:rPr>
              <a:t>Diffraction</a:t>
            </a:r>
          </a:p>
          <a:p>
            <a:pPr marL="342900" indent="-342900">
              <a:spcBef>
                <a:spcPct val="20000"/>
              </a:spcBef>
              <a:buFontTx/>
              <a:buChar char="•"/>
            </a:pPr>
            <a:r>
              <a:rPr lang="en-US" altLang="zh-TW" sz="2800">
                <a:latin typeface="Times New Roman" pitchFamily="18" charset="0"/>
              </a:rPr>
              <a:t>Co-channel interference</a:t>
            </a:r>
          </a:p>
          <a:p>
            <a:pPr marL="342900" indent="-342900">
              <a:spcBef>
                <a:spcPct val="20000"/>
              </a:spcBef>
              <a:buFontTx/>
              <a:buChar char="•"/>
            </a:pPr>
            <a:endParaRPr lang="en-US" altLang="zh-TW" sz="2800">
              <a:latin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GB" altLang="zh-TW">
                <a:latin typeface="Times New Roman" pitchFamily="18" charset="0"/>
              </a:rPr>
              <a:t>What’s is Location Base Service</a:t>
            </a:r>
          </a:p>
        </p:txBody>
      </p:sp>
      <p:sp>
        <p:nvSpPr>
          <p:cNvPr id="30723" name="Rectangle 3"/>
          <p:cNvSpPr>
            <a:spLocks noGrp="1" noChangeArrowheads="1"/>
          </p:cNvSpPr>
          <p:nvPr>
            <p:ph type="body" idx="1"/>
          </p:nvPr>
        </p:nvSpPr>
        <p:spPr/>
        <p:txBody>
          <a:bodyPr/>
          <a:lstStyle/>
          <a:p>
            <a:pPr eaLnBrk="1" hangingPunct="1">
              <a:lnSpc>
                <a:spcPct val="80000"/>
              </a:lnSpc>
            </a:pPr>
            <a:r>
              <a:rPr lang="en-US" altLang="zh-TW" sz="2800">
                <a:latin typeface="Times New Roman" pitchFamily="18" charset="0"/>
              </a:rPr>
              <a:t>A </a:t>
            </a:r>
            <a:r>
              <a:rPr lang="en-US" altLang="zh-TW" sz="2800" b="1">
                <a:latin typeface="Times New Roman" pitchFamily="18" charset="0"/>
              </a:rPr>
              <a:t>location-based service</a:t>
            </a:r>
            <a:r>
              <a:rPr lang="en-US" altLang="zh-TW" sz="2800">
                <a:latin typeface="Times New Roman" pitchFamily="18" charset="0"/>
              </a:rPr>
              <a:t> (LBS) is an information and entertainment service, accessible with mobile devices through the mobile network and utilizing the ability to make use of the geographical position of the mobile device</a:t>
            </a:r>
          </a:p>
          <a:p>
            <a:pPr eaLnBrk="1" hangingPunct="1">
              <a:lnSpc>
                <a:spcPct val="80000"/>
              </a:lnSpc>
            </a:pPr>
            <a:endParaRPr lang="en-US" altLang="zh-TW" sz="2800">
              <a:latin typeface="Times New Roman" pitchFamily="18" charset="0"/>
            </a:endParaRPr>
          </a:p>
          <a:p>
            <a:pPr eaLnBrk="1" hangingPunct="1">
              <a:lnSpc>
                <a:spcPct val="80000"/>
              </a:lnSpc>
            </a:pPr>
            <a:r>
              <a:rPr lang="en-US" altLang="zh-TW" sz="2800">
                <a:latin typeface="Times New Roman" pitchFamily="18" charset="0"/>
              </a:rPr>
              <a:t>E.g. identify a location of a person or object such as discovering the nearest banking cash machine or the whereabouts of a friend or employee. </a:t>
            </a:r>
          </a:p>
          <a:p>
            <a:pPr eaLnBrk="1" hangingPunct="1">
              <a:lnSpc>
                <a:spcPct val="80000"/>
              </a:lnSpc>
            </a:pPr>
            <a:endParaRPr lang="en-US" altLang="zh-TW" sz="2800">
              <a:latin typeface="Times New Roman" pitchFamily="18" charset="0"/>
            </a:endParaRPr>
          </a:p>
          <a:p>
            <a:pPr eaLnBrk="1" hangingPunct="1">
              <a:lnSpc>
                <a:spcPct val="80000"/>
              </a:lnSpc>
            </a:pPr>
            <a:endParaRPr lang="en-US" altLang="zh-TW" sz="2800">
              <a:latin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zh-TW">
                <a:latin typeface="Times New Roman" pitchFamily="18" charset="0"/>
              </a:rPr>
              <a:t>Basic operation modes of LBS</a:t>
            </a:r>
          </a:p>
        </p:txBody>
      </p:sp>
      <p:sp>
        <p:nvSpPr>
          <p:cNvPr id="31747" name="Rectangle 3"/>
          <p:cNvSpPr>
            <a:spLocks noGrp="1" noChangeArrowheads="1"/>
          </p:cNvSpPr>
          <p:nvPr>
            <p:ph type="body" idx="1"/>
          </p:nvPr>
        </p:nvSpPr>
        <p:spPr/>
        <p:txBody>
          <a:bodyPr/>
          <a:lstStyle/>
          <a:p>
            <a:pPr eaLnBrk="1" hangingPunct="1">
              <a:lnSpc>
                <a:spcPct val="90000"/>
              </a:lnSpc>
            </a:pPr>
            <a:r>
              <a:rPr lang="en-US" altLang="zh-TW" sz="2800">
                <a:latin typeface="Times New Roman" pitchFamily="18" charset="0"/>
              </a:rPr>
              <a:t>Pull</a:t>
            </a:r>
          </a:p>
          <a:p>
            <a:pPr lvl="1" eaLnBrk="1" hangingPunct="1">
              <a:lnSpc>
                <a:spcPct val="90000"/>
              </a:lnSpc>
            </a:pPr>
            <a:r>
              <a:rPr lang="en-US" altLang="zh-TW" sz="2400">
                <a:latin typeface="Times New Roman" pitchFamily="18" charset="0"/>
              </a:rPr>
              <a:t>The customer initiates mobile positioning measurement at the same time when one requests for a service</a:t>
            </a:r>
          </a:p>
          <a:p>
            <a:pPr lvl="1" eaLnBrk="1" hangingPunct="1">
              <a:lnSpc>
                <a:spcPct val="90000"/>
              </a:lnSpc>
            </a:pPr>
            <a:endParaRPr lang="en-US" altLang="zh-TW" sz="2400">
              <a:latin typeface="Times New Roman" pitchFamily="18" charset="0"/>
            </a:endParaRPr>
          </a:p>
          <a:p>
            <a:pPr eaLnBrk="1" hangingPunct="1">
              <a:lnSpc>
                <a:spcPct val="90000"/>
              </a:lnSpc>
            </a:pPr>
            <a:r>
              <a:rPr lang="en-US" altLang="zh-TW" sz="2800">
                <a:latin typeface="Times New Roman" pitchFamily="18" charset="0"/>
              </a:rPr>
              <a:t>Push</a:t>
            </a:r>
          </a:p>
          <a:p>
            <a:pPr lvl="1" eaLnBrk="1" hangingPunct="1">
              <a:lnSpc>
                <a:spcPct val="90000"/>
              </a:lnSpc>
            </a:pPr>
            <a:r>
              <a:rPr lang="en-US" altLang="zh-TW" sz="2400">
                <a:latin typeface="Times New Roman" pitchFamily="18" charset="0"/>
              </a:rPr>
              <a:t>The request for service (and hence mobile positioning) is not technically made by the customer but by the service provider</a:t>
            </a:r>
          </a:p>
          <a:p>
            <a:pPr lvl="1" eaLnBrk="1" hangingPunct="1">
              <a:lnSpc>
                <a:spcPct val="90000"/>
              </a:lnSpc>
            </a:pPr>
            <a:endParaRPr lang="en-US" altLang="zh-TW" sz="2400">
              <a:latin typeface="Times New Roman" pitchFamily="18" charset="0"/>
            </a:endParaRPr>
          </a:p>
          <a:p>
            <a:pPr eaLnBrk="1" hangingPunct="1">
              <a:lnSpc>
                <a:spcPct val="90000"/>
              </a:lnSpc>
            </a:pPr>
            <a:r>
              <a:rPr lang="en-US" altLang="zh-TW" sz="2800">
                <a:latin typeface="Times New Roman" pitchFamily="18" charset="0"/>
              </a:rPr>
              <a:t>Tracking</a:t>
            </a:r>
          </a:p>
          <a:p>
            <a:pPr lvl="1" eaLnBrk="1" hangingPunct="1">
              <a:lnSpc>
                <a:spcPct val="90000"/>
              </a:lnSpc>
            </a:pPr>
            <a:r>
              <a:rPr lang="en-US" altLang="zh-TW" sz="2400">
                <a:latin typeface="Times New Roman" pitchFamily="18" charset="0"/>
              </a:rPr>
              <a:t>Someone (person or service) asks for a location of the mobile terminal (Person, vehicle, fleet etc.)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511300" y="2146300"/>
            <a:ext cx="6156325" cy="490538"/>
          </a:xfrm>
        </p:spPr>
        <p:txBody>
          <a:bodyPr/>
          <a:lstStyle/>
          <a:p>
            <a:pPr eaLnBrk="1" hangingPunct="1"/>
            <a:r>
              <a:rPr lang="en-GB" altLang="zh-TW">
                <a:latin typeface="Times New Roman" pitchFamily="18" charset="0"/>
              </a:rPr>
              <a:t>Class discussions:</a:t>
            </a:r>
            <a:br>
              <a:rPr lang="en-GB" altLang="zh-TW">
                <a:latin typeface="Times New Roman" pitchFamily="18" charset="0"/>
              </a:rPr>
            </a:br>
            <a:br>
              <a:rPr lang="en-GB" altLang="zh-TW">
                <a:latin typeface="Times New Roman" pitchFamily="18" charset="0"/>
              </a:rPr>
            </a:br>
            <a:r>
              <a:rPr lang="en-GB" altLang="zh-TW">
                <a:latin typeface="Times New Roman" pitchFamily="18" charset="0"/>
              </a:rPr>
              <a:t>What are the applications of LBS?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03213" y="188913"/>
            <a:ext cx="8229600" cy="574675"/>
          </a:xfrm>
        </p:spPr>
        <p:txBody>
          <a:bodyPr/>
          <a:lstStyle/>
          <a:p>
            <a:pPr eaLnBrk="1" hangingPunct="1"/>
            <a:r>
              <a:rPr lang="en-US" altLang="zh-TW" sz="3200">
                <a:latin typeface="Times New Roman" pitchFamily="18" charset="0"/>
              </a:rPr>
              <a:t>Applications of Location base Services</a:t>
            </a:r>
          </a:p>
        </p:txBody>
      </p:sp>
      <p:sp>
        <p:nvSpPr>
          <p:cNvPr id="33795" name="Rectangle 3"/>
          <p:cNvSpPr>
            <a:spLocks noGrp="1" noChangeArrowheads="1"/>
          </p:cNvSpPr>
          <p:nvPr>
            <p:ph type="body" idx="1"/>
          </p:nvPr>
        </p:nvSpPr>
        <p:spPr>
          <a:xfrm>
            <a:off x="457200" y="1196975"/>
            <a:ext cx="8229600" cy="4929188"/>
          </a:xfrm>
        </p:spPr>
        <p:txBody>
          <a:bodyPr/>
          <a:lstStyle/>
          <a:p>
            <a:pPr eaLnBrk="1" hangingPunct="1">
              <a:lnSpc>
                <a:spcPct val="80000"/>
              </a:lnSpc>
            </a:pPr>
            <a:r>
              <a:rPr lang="en-US" altLang="zh-TW" sz="2000">
                <a:latin typeface="Times New Roman" pitchFamily="18" charset="0"/>
              </a:rPr>
              <a:t>Emergency services</a:t>
            </a:r>
          </a:p>
          <a:p>
            <a:pPr eaLnBrk="1" hangingPunct="1">
              <a:lnSpc>
                <a:spcPct val="80000"/>
              </a:lnSpc>
            </a:pPr>
            <a:r>
              <a:rPr lang="en-US" altLang="zh-TW" sz="2000">
                <a:latin typeface="Times New Roman" pitchFamily="18" charset="0"/>
              </a:rPr>
              <a:t>Mobile advertising</a:t>
            </a:r>
          </a:p>
          <a:p>
            <a:pPr eaLnBrk="1" hangingPunct="1">
              <a:lnSpc>
                <a:spcPct val="80000"/>
              </a:lnSpc>
            </a:pPr>
            <a:r>
              <a:rPr lang="en-US" altLang="zh-TW" sz="2000">
                <a:latin typeface="Times New Roman" pitchFamily="18" charset="0"/>
              </a:rPr>
              <a:t>Location sensitive billing</a:t>
            </a:r>
          </a:p>
          <a:p>
            <a:pPr eaLnBrk="1" hangingPunct="1">
              <a:lnSpc>
                <a:spcPct val="80000"/>
              </a:lnSpc>
            </a:pPr>
            <a:r>
              <a:rPr lang="en-US" altLang="zh-TW" sz="2000">
                <a:latin typeface="Times New Roman" pitchFamily="18" charset="0"/>
              </a:rPr>
              <a:t>Fraud protection</a:t>
            </a:r>
          </a:p>
          <a:p>
            <a:pPr eaLnBrk="1" hangingPunct="1">
              <a:lnSpc>
                <a:spcPct val="80000"/>
              </a:lnSpc>
            </a:pPr>
            <a:r>
              <a:rPr lang="en-US" altLang="zh-TW" sz="2000">
                <a:latin typeface="Times New Roman" pitchFamily="18" charset="0"/>
              </a:rPr>
              <a:t>Asset tracking</a:t>
            </a:r>
          </a:p>
          <a:p>
            <a:pPr eaLnBrk="1" hangingPunct="1">
              <a:lnSpc>
                <a:spcPct val="80000"/>
              </a:lnSpc>
            </a:pPr>
            <a:r>
              <a:rPr lang="en-US" altLang="zh-TW" sz="2000">
                <a:latin typeface="Times New Roman" pitchFamily="18" charset="0"/>
              </a:rPr>
              <a:t>Fleet management</a:t>
            </a:r>
          </a:p>
          <a:p>
            <a:pPr eaLnBrk="1" hangingPunct="1">
              <a:lnSpc>
                <a:spcPct val="80000"/>
              </a:lnSpc>
            </a:pPr>
            <a:r>
              <a:rPr lang="en-US" altLang="zh-TW" sz="2000">
                <a:latin typeface="Times New Roman" pitchFamily="18" charset="0"/>
              </a:rPr>
              <a:t>Intelligent transportation systems</a:t>
            </a:r>
          </a:p>
          <a:p>
            <a:pPr eaLnBrk="1" hangingPunct="1">
              <a:lnSpc>
                <a:spcPct val="80000"/>
              </a:lnSpc>
            </a:pPr>
            <a:r>
              <a:rPr lang="en-US" altLang="zh-TW" sz="2000">
                <a:latin typeface="Times New Roman" pitchFamily="18" charset="0"/>
              </a:rPr>
              <a:t>Mobile yellow pages</a:t>
            </a:r>
          </a:p>
          <a:p>
            <a:pPr eaLnBrk="1" hangingPunct="1">
              <a:lnSpc>
                <a:spcPct val="80000"/>
              </a:lnSpc>
            </a:pPr>
            <a:r>
              <a:rPr lang="en-US" altLang="zh-TW" sz="2000">
                <a:latin typeface="Times New Roman" pitchFamily="18" charset="0"/>
              </a:rPr>
              <a:t>parcel tracking and vehicle tracking services</a:t>
            </a:r>
          </a:p>
          <a:p>
            <a:pPr eaLnBrk="1" hangingPunct="1">
              <a:lnSpc>
                <a:spcPct val="80000"/>
              </a:lnSpc>
            </a:pPr>
            <a:r>
              <a:rPr lang="en-US" altLang="zh-TW" sz="2000">
                <a:latin typeface="Times New Roman" pitchFamily="18" charset="0"/>
              </a:rPr>
              <a:t>Location base coupons or advertising </a:t>
            </a:r>
          </a:p>
          <a:p>
            <a:pPr eaLnBrk="1" hangingPunct="1">
              <a:lnSpc>
                <a:spcPct val="80000"/>
              </a:lnSpc>
            </a:pPr>
            <a:r>
              <a:rPr lang="en-US" altLang="zh-TW" sz="2000">
                <a:latin typeface="Times New Roman" pitchFamily="18" charset="0"/>
              </a:rPr>
              <a:t>personalized weather services and </a:t>
            </a:r>
          </a:p>
          <a:p>
            <a:pPr eaLnBrk="1" hangingPunct="1">
              <a:lnSpc>
                <a:spcPct val="80000"/>
              </a:lnSpc>
            </a:pPr>
            <a:r>
              <a:rPr lang="en-US" altLang="zh-TW" sz="2000">
                <a:latin typeface="Times New Roman" pitchFamily="18" charset="0"/>
              </a:rPr>
              <a:t>location-based games</a:t>
            </a:r>
          </a:p>
          <a:p>
            <a:pPr eaLnBrk="1" hangingPunct="1">
              <a:lnSpc>
                <a:spcPct val="80000"/>
              </a:lnSpc>
            </a:pPr>
            <a:r>
              <a:rPr lang="en-US" altLang="zh-TW" sz="2000">
                <a:latin typeface="Times New Roman" pitchFamily="18" charset="0"/>
              </a:rPr>
              <a:t>Requesting the nearest business or service, such as an ATM or restaurant </a:t>
            </a:r>
          </a:p>
          <a:p>
            <a:pPr eaLnBrk="1" hangingPunct="1">
              <a:lnSpc>
                <a:spcPct val="80000"/>
              </a:lnSpc>
            </a:pPr>
            <a:r>
              <a:rPr lang="en-US" altLang="zh-TW" sz="2000">
                <a:latin typeface="Times New Roman" pitchFamily="18" charset="0"/>
              </a:rPr>
              <a:t>Locating people on a map displayed on the mobile phone </a:t>
            </a:r>
          </a:p>
          <a:p>
            <a:pPr eaLnBrk="1" hangingPunct="1">
              <a:lnSpc>
                <a:spcPct val="80000"/>
              </a:lnSpc>
            </a:pPr>
            <a:r>
              <a:rPr lang="en-US" altLang="zh-TW" sz="2000">
                <a:latin typeface="Times New Roman" pitchFamily="18" charset="0"/>
              </a:rPr>
              <a:t>Receiving alerts, such as notification of a sale on gas or warning of a traffic jam </a:t>
            </a:r>
          </a:p>
          <a:p>
            <a:pPr eaLnBrk="1" hangingPunct="1">
              <a:lnSpc>
                <a:spcPct val="80000"/>
              </a:lnSpc>
            </a:pPr>
            <a:endParaRPr lang="en-US" altLang="zh-TW" sz="2000">
              <a:latin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TW" sz="3600">
                <a:latin typeface="Times New Roman" pitchFamily="18" charset="0"/>
              </a:rPr>
              <a:t>Applications of Location base Services</a:t>
            </a:r>
          </a:p>
        </p:txBody>
      </p:sp>
      <p:sp>
        <p:nvSpPr>
          <p:cNvPr id="34819" name="Rectangle 3"/>
          <p:cNvSpPr>
            <a:spLocks noGrp="1" noChangeArrowheads="1"/>
          </p:cNvSpPr>
          <p:nvPr>
            <p:ph type="body" idx="1"/>
          </p:nvPr>
        </p:nvSpPr>
        <p:spPr>
          <a:xfrm>
            <a:off x="457200" y="1350963"/>
            <a:ext cx="7931150" cy="4525962"/>
          </a:xfrm>
        </p:spPr>
        <p:txBody>
          <a:bodyPr/>
          <a:lstStyle/>
          <a:p>
            <a:pPr eaLnBrk="1" hangingPunct="1"/>
            <a:r>
              <a:rPr lang="en-US" altLang="zh-TW" sz="2800">
                <a:latin typeface="Times New Roman" pitchFamily="18" charset="0"/>
              </a:rPr>
              <a:t>Resource tracking with dynamic distribution. </a:t>
            </a:r>
          </a:p>
          <a:p>
            <a:pPr lvl="1" eaLnBrk="1" hangingPunct="1"/>
            <a:r>
              <a:rPr lang="en-US" altLang="zh-TW" sz="2400">
                <a:latin typeface="Times New Roman" pitchFamily="18" charset="0"/>
              </a:rPr>
              <a:t>Taxis, service people, rental equipment, doctors, fleet scheduling. </a:t>
            </a:r>
          </a:p>
          <a:p>
            <a:pPr eaLnBrk="1" hangingPunct="1"/>
            <a:r>
              <a:rPr lang="en-US" altLang="zh-TW" sz="2800">
                <a:latin typeface="Times New Roman" pitchFamily="18" charset="0"/>
              </a:rPr>
              <a:t>Resource tracking. </a:t>
            </a:r>
          </a:p>
          <a:p>
            <a:pPr lvl="1" eaLnBrk="1" hangingPunct="1"/>
            <a:r>
              <a:rPr lang="en-US" altLang="zh-TW" sz="2400">
                <a:latin typeface="Times New Roman" pitchFamily="18" charset="0"/>
              </a:rPr>
              <a:t>Objects without privacy controls, using passive sensors or RF tags, such as packages and train boxcars. </a:t>
            </a:r>
          </a:p>
          <a:p>
            <a:pPr eaLnBrk="1" hangingPunct="1"/>
            <a:r>
              <a:rPr lang="en-US" altLang="zh-TW" sz="2800">
                <a:latin typeface="Times New Roman" pitchFamily="18" charset="0"/>
              </a:rPr>
              <a:t>Finding someone or something. </a:t>
            </a:r>
          </a:p>
          <a:p>
            <a:pPr lvl="1" eaLnBrk="1" hangingPunct="1"/>
            <a:r>
              <a:rPr lang="en-US" altLang="zh-TW" sz="2400">
                <a:latin typeface="Times New Roman" pitchFamily="18" charset="0"/>
              </a:rPr>
              <a:t>Person by skill (doctor), business directory, navigation, weather, traffic, room schedules, stolen phone, emergency calls. Targeted advertising, buddy list, common profile matching (dating)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GB" altLang="zh-TW">
                <a:latin typeface="Times New Roman" pitchFamily="18" charset="0"/>
              </a:rPr>
              <a:t>Values of LBS</a:t>
            </a:r>
          </a:p>
        </p:txBody>
      </p:sp>
      <p:sp>
        <p:nvSpPr>
          <p:cNvPr id="35843" name="Rectangle 3"/>
          <p:cNvSpPr>
            <a:spLocks noGrp="1" noChangeArrowheads="1"/>
          </p:cNvSpPr>
          <p:nvPr>
            <p:ph type="body" idx="1"/>
          </p:nvPr>
        </p:nvSpPr>
        <p:spPr>
          <a:xfrm>
            <a:off x="323850" y="1052513"/>
            <a:ext cx="7993063" cy="4525962"/>
          </a:xfrm>
        </p:spPr>
        <p:txBody>
          <a:bodyPr/>
          <a:lstStyle/>
          <a:p>
            <a:pPr eaLnBrk="1" hangingPunct="1"/>
            <a:r>
              <a:rPr lang="en-US" altLang="zh-TW" sz="2000">
                <a:latin typeface="Times New Roman" pitchFamily="18" charset="0"/>
              </a:rPr>
              <a:t>Use as a filter</a:t>
            </a:r>
          </a:p>
          <a:p>
            <a:pPr lvl="1" eaLnBrk="1" hangingPunct="1"/>
            <a:r>
              <a:rPr lang="en-US" altLang="zh-TW" sz="1800">
                <a:latin typeface="Times New Roman" pitchFamily="18" charset="0"/>
              </a:rPr>
              <a:t>to restrict results of search that are close enough to the customers’ location</a:t>
            </a:r>
          </a:p>
          <a:p>
            <a:pPr eaLnBrk="1" hangingPunct="1"/>
            <a:r>
              <a:rPr lang="en-US" altLang="zh-TW" sz="2000">
                <a:latin typeface="Times New Roman" pitchFamily="18" charset="0"/>
              </a:rPr>
              <a:t>Use as a pointer</a:t>
            </a:r>
          </a:p>
          <a:p>
            <a:pPr lvl="1" eaLnBrk="1" hangingPunct="1"/>
            <a:r>
              <a:rPr lang="en-US" altLang="zh-TW" sz="1800">
                <a:latin typeface="Times New Roman" pitchFamily="18" charset="0"/>
              </a:rPr>
              <a:t>to show the location of the customers as a dot on a map in tracking services</a:t>
            </a:r>
          </a:p>
          <a:p>
            <a:pPr eaLnBrk="1" hangingPunct="1"/>
            <a:r>
              <a:rPr lang="en-US" altLang="zh-TW" sz="2000">
                <a:latin typeface="Times New Roman" pitchFamily="18" charset="0"/>
              </a:rPr>
              <a:t>Use as a definer/launcher for “area alarm</a:t>
            </a:r>
          </a:p>
          <a:p>
            <a:pPr lvl="1" eaLnBrk="1" hangingPunct="1"/>
            <a:r>
              <a:rPr lang="en-US" altLang="zh-TW" sz="1800">
                <a:latin typeface="Times New Roman" pitchFamily="18" charset="0"/>
              </a:rPr>
              <a:t> i.e. to launch a pre-defined activity (e.g. send a MSMS) with customer enters/leaves a certain area</a:t>
            </a:r>
          </a:p>
        </p:txBody>
      </p:sp>
      <p:pic>
        <p:nvPicPr>
          <p:cNvPr id="3584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588" y="4005263"/>
            <a:ext cx="1584325"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633788"/>
            <a:ext cx="496887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zh-TW" sz="3600">
                <a:latin typeface="Times New Roman" pitchFamily="18" charset="0"/>
              </a:rPr>
              <a:t>CNN news on location Base service</a:t>
            </a:r>
          </a:p>
        </p:txBody>
      </p:sp>
      <p:sp>
        <p:nvSpPr>
          <p:cNvPr id="36867" name="Rectangle 3"/>
          <p:cNvSpPr>
            <a:spLocks noGrp="1" noChangeArrowheads="1"/>
          </p:cNvSpPr>
          <p:nvPr>
            <p:ph type="body" idx="1"/>
          </p:nvPr>
        </p:nvSpPr>
        <p:spPr>
          <a:xfrm>
            <a:off x="323850" y="1125538"/>
            <a:ext cx="8229600" cy="4525962"/>
          </a:xfrm>
        </p:spPr>
        <p:txBody>
          <a:bodyPr/>
          <a:lstStyle/>
          <a:p>
            <a:pPr eaLnBrk="1" hangingPunct="1"/>
            <a:r>
              <a:rPr lang="en-US" altLang="zh-TW" sz="2400">
                <a:latin typeface="Times New Roman" pitchFamily="18" charset="0"/>
                <a:hlinkClick r:id="rId2"/>
              </a:rPr>
              <a:t>http://www.youtube.com/watch?v=NwuW5BCaj-I</a:t>
            </a:r>
            <a:endParaRPr lang="en-US" altLang="zh-TW" sz="2400">
              <a:latin typeface="Times New Roman" pitchFamily="18" charset="0"/>
            </a:endParaRPr>
          </a:p>
        </p:txBody>
      </p:sp>
      <p:pic>
        <p:nvPicPr>
          <p:cNvPr id="3686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663700"/>
            <a:ext cx="7467600"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11300" y="2146300"/>
            <a:ext cx="6156325" cy="490538"/>
          </a:xfrm>
        </p:spPr>
        <p:txBody>
          <a:bodyPr/>
          <a:lstStyle/>
          <a:p>
            <a:pPr eaLnBrk="1" hangingPunct="1"/>
            <a:r>
              <a:rPr lang="en-GB" altLang="zh-TW">
                <a:latin typeface="Times New Roman" pitchFamily="18" charset="0"/>
              </a:rPr>
              <a:t>Class discussions:</a:t>
            </a:r>
            <a:br>
              <a:rPr lang="en-GB" altLang="zh-TW">
                <a:latin typeface="Times New Roman" pitchFamily="18" charset="0"/>
              </a:rPr>
            </a:br>
            <a:br>
              <a:rPr lang="en-GB" altLang="zh-TW">
                <a:latin typeface="Times New Roman" pitchFamily="18" charset="0"/>
              </a:rPr>
            </a:br>
            <a:r>
              <a:rPr lang="en-GB" altLang="zh-TW">
                <a:latin typeface="Times New Roman" pitchFamily="18" charset="0"/>
              </a:rPr>
              <a:t>What are the issues/problems of LBS?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GB" altLang="zh-TW" sz="4000">
                <a:latin typeface="Times New Roman" pitchFamily="18" charset="0"/>
              </a:rPr>
              <a:t>What are the issues/problems of LBS?</a:t>
            </a:r>
          </a:p>
        </p:txBody>
      </p:sp>
      <p:sp>
        <p:nvSpPr>
          <p:cNvPr id="38915" name="Rectangle 3"/>
          <p:cNvSpPr>
            <a:spLocks noGrp="1" noChangeArrowheads="1"/>
          </p:cNvSpPr>
          <p:nvPr>
            <p:ph type="body" idx="1"/>
          </p:nvPr>
        </p:nvSpPr>
        <p:spPr/>
        <p:txBody>
          <a:bodyPr/>
          <a:lstStyle/>
          <a:p>
            <a:pPr eaLnBrk="1" hangingPunct="1"/>
            <a:r>
              <a:rPr lang="en-US" altLang="zh-TW"/>
              <a:t>Privacy</a:t>
            </a:r>
          </a:p>
          <a:p>
            <a:pPr eaLnBrk="1" hangingPunct="1"/>
            <a:r>
              <a:rPr lang="en-US" altLang="zh-TW"/>
              <a:t>Accuracy</a:t>
            </a:r>
          </a:p>
          <a:p>
            <a:pPr eaLnBrk="1" hangingPunct="1"/>
            <a:r>
              <a:rPr lang="en-US" altLang="zh-TW"/>
              <a:t>Coverage</a:t>
            </a:r>
          </a:p>
          <a:p>
            <a:pPr eaLnBrk="1" hangingPunct="1"/>
            <a:r>
              <a:rPr lang="en-US" altLang="zh-TW"/>
              <a:t>Useless information (Garbage information)</a:t>
            </a:r>
          </a:p>
          <a:p>
            <a:pPr eaLnBrk="1" hangingPunct="1"/>
            <a:r>
              <a:rPr lang="en-US" altLang="zh-TW"/>
              <a:t>Information overload</a:t>
            </a:r>
          </a:p>
          <a:p>
            <a:pPr eaLnBrk="1" hangingPunct="1"/>
            <a:endParaRPr lang="en-US" altLang="zh-TW"/>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TW">
                <a:latin typeface="Times New Roman" pitchFamily="18" charset="0"/>
              </a:rPr>
              <a:t>Major issues faced by LBS</a:t>
            </a:r>
          </a:p>
        </p:txBody>
      </p:sp>
      <p:sp>
        <p:nvSpPr>
          <p:cNvPr id="39939" name="Rectangle 3"/>
          <p:cNvSpPr>
            <a:spLocks noGrp="1" noChangeArrowheads="1"/>
          </p:cNvSpPr>
          <p:nvPr>
            <p:ph type="body" idx="1"/>
          </p:nvPr>
        </p:nvSpPr>
        <p:spPr>
          <a:xfrm>
            <a:off x="457200" y="1268413"/>
            <a:ext cx="8229600" cy="4525962"/>
          </a:xfrm>
        </p:spPr>
        <p:txBody>
          <a:bodyPr/>
          <a:lstStyle/>
          <a:p>
            <a:pPr eaLnBrk="1" hangingPunct="1"/>
            <a:r>
              <a:rPr lang="en-US" altLang="zh-TW">
                <a:latin typeface="Times New Roman" pitchFamily="18" charset="0"/>
              </a:rPr>
              <a:t>Accuracy of location</a:t>
            </a:r>
          </a:p>
          <a:p>
            <a:pPr lvl="1" eaLnBrk="1" hangingPunct="1"/>
            <a:r>
              <a:rPr lang="en-US" altLang="zh-TW">
                <a:latin typeface="Times New Roman" pitchFamily="18" charset="0"/>
              </a:rPr>
              <a:t>Mobile network was primarily built for communication, not positioning</a:t>
            </a:r>
          </a:p>
          <a:p>
            <a:pPr lvl="1" eaLnBrk="1" hangingPunct="1"/>
            <a:r>
              <a:rPr lang="en-US" altLang="zh-TW">
                <a:latin typeface="Times New Roman" pitchFamily="18" charset="0"/>
              </a:rPr>
              <a:t>If location data is not accuracy, the information is not useful (Garbage in, Garbage out)</a:t>
            </a:r>
          </a:p>
          <a:p>
            <a:pPr lvl="1" eaLnBrk="1" hangingPunct="1"/>
            <a:r>
              <a:rPr lang="en-US" altLang="zh-TW">
                <a:latin typeface="Times New Roman" pitchFamily="18" charset="0"/>
              </a:rPr>
              <a:t>Limiting choice of service</a:t>
            </a:r>
          </a:p>
        </p:txBody>
      </p:sp>
      <p:pic>
        <p:nvPicPr>
          <p:cNvPr id="3994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4652963"/>
            <a:ext cx="289560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TW" sz="4000">
                <a:latin typeface="Times New Roman" pitchFamily="18" charset="0"/>
              </a:rPr>
              <a:t>Major issues faced by LBS</a:t>
            </a:r>
          </a:p>
        </p:txBody>
      </p:sp>
      <p:sp>
        <p:nvSpPr>
          <p:cNvPr id="40963" name="Rectangle 3"/>
          <p:cNvSpPr>
            <a:spLocks noGrp="1" noChangeArrowheads="1"/>
          </p:cNvSpPr>
          <p:nvPr>
            <p:ph type="body" idx="1"/>
          </p:nvPr>
        </p:nvSpPr>
        <p:spPr>
          <a:xfrm>
            <a:off x="457200" y="1052513"/>
            <a:ext cx="8229600" cy="4525962"/>
          </a:xfrm>
        </p:spPr>
        <p:txBody>
          <a:bodyPr/>
          <a:lstStyle/>
          <a:p>
            <a:pPr eaLnBrk="1" hangingPunct="1"/>
            <a:r>
              <a:rPr lang="en-US" altLang="zh-TW" sz="2800">
                <a:latin typeface="Times New Roman" pitchFamily="18" charset="0"/>
              </a:rPr>
              <a:t>Investment vs penetration</a:t>
            </a:r>
          </a:p>
          <a:p>
            <a:pPr lvl="1" eaLnBrk="1" hangingPunct="1"/>
            <a:r>
              <a:rPr lang="en-US" altLang="zh-TW" sz="2400">
                <a:latin typeface="Times New Roman" pitchFamily="18" charset="0"/>
              </a:rPr>
              <a:t>Extraction of network measurement for position calculation remains a difficult and expensive task</a:t>
            </a:r>
          </a:p>
          <a:p>
            <a:pPr lvl="1" eaLnBrk="1" hangingPunct="1"/>
            <a:r>
              <a:rPr lang="en-US" altLang="zh-TW" sz="2400">
                <a:latin typeface="Times New Roman" pitchFamily="18" charset="0"/>
              </a:rPr>
              <a:t>Network base solution offers a full-base penetration </a:t>
            </a:r>
            <a:r>
              <a:rPr lang="en-US" altLang="zh-TW" sz="2400">
                <a:latin typeface="Times New Roman" pitchFamily="18" charset="0"/>
                <a:sym typeface="Wingdings" pitchFamily="2" charset="2"/>
              </a:rPr>
              <a:t> but large investment</a:t>
            </a:r>
          </a:p>
          <a:p>
            <a:pPr lvl="1" eaLnBrk="1" hangingPunct="1"/>
            <a:r>
              <a:rPr lang="en-US" altLang="zh-TW" sz="2400">
                <a:latin typeface="Times New Roman" pitchFamily="18" charset="0"/>
              </a:rPr>
              <a:t>Terminal based solution is relatively less expansive but largely limits penetration</a:t>
            </a:r>
          </a:p>
        </p:txBody>
      </p:sp>
      <p:pic>
        <p:nvPicPr>
          <p:cNvPr id="409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933825"/>
            <a:ext cx="3960813"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TW">
                <a:latin typeface="Times New Roman" pitchFamily="18" charset="0"/>
              </a:rPr>
              <a:t>Major issues faced by LBS</a:t>
            </a:r>
          </a:p>
        </p:txBody>
      </p:sp>
      <p:sp>
        <p:nvSpPr>
          <p:cNvPr id="41987" name="Rectangle 3"/>
          <p:cNvSpPr>
            <a:spLocks noGrp="1" noChangeArrowheads="1"/>
          </p:cNvSpPr>
          <p:nvPr>
            <p:ph type="body" idx="1"/>
          </p:nvPr>
        </p:nvSpPr>
        <p:spPr>
          <a:xfrm>
            <a:off x="684213" y="1135063"/>
            <a:ext cx="7427912" cy="4525962"/>
          </a:xfrm>
        </p:spPr>
        <p:txBody>
          <a:bodyPr/>
          <a:lstStyle/>
          <a:p>
            <a:pPr eaLnBrk="1" hangingPunct="1"/>
            <a:r>
              <a:rPr lang="en-US" altLang="zh-TW" sz="2800">
                <a:latin typeface="Times New Roman" pitchFamily="18" charset="0"/>
              </a:rPr>
              <a:t>Business Model (Willingness to pay)</a:t>
            </a:r>
          </a:p>
          <a:p>
            <a:pPr lvl="1" eaLnBrk="1" hangingPunct="1"/>
            <a:r>
              <a:rPr lang="en-US" altLang="zh-TW" sz="2400">
                <a:latin typeface="Times New Roman" pitchFamily="18" charset="0"/>
              </a:rPr>
              <a:t>Consumer market: position information in most cases are just “nice-to-have”. There is no killer application</a:t>
            </a:r>
          </a:p>
          <a:p>
            <a:pPr lvl="1" eaLnBrk="1" hangingPunct="1"/>
            <a:r>
              <a:rPr lang="en-US" altLang="zh-TW" sz="2400">
                <a:latin typeface="Times New Roman" pitchFamily="18" charset="0"/>
              </a:rPr>
              <a:t>Enterprise users are more willing to pay a higher fee</a:t>
            </a:r>
          </a:p>
          <a:p>
            <a:pPr eaLnBrk="1" hangingPunct="1"/>
            <a:endParaRPr lang="en-US" altLang="zh-TW" sz="2800">
              <a:latin typeface="Times New Roman" pitchFamily="18" charset="0"/>
            </a:endParaRPr>
          </a:p>
          <a:p>
            <a:pPr eaLnBrk="1" hangingPunct="1"/>
            <a:r>
              <a:rPr lang="en-US" altLang="zh-TW" sz="2800">
                <a:latin typeface="Times New Roman" pitchFamily="18" charset="0"/>
              </a:rPr>
              <a:t>Inter-operability between operators</a:t>
            </a:r>
          </a:p>
          <a:p>
            <a:pPr lvl="1" eaLnBrk="1" hangingPunct="1"/>
            <a:r>
              <a:rPr lang="en-US" altLang="zh-TW" sz="2400">
                <a:latin typeface="Times New Roman" pitchFamily="18" charset="0"/>
              </a:rPr>
              <a:t>Cross border continuity</a:t>
            </a:r>
          </a:p>
          <a:p>
            <a:pPr lvl="1" eaLnBrk="1" hangingPunct="1"/>
            <a:r>
              <a:rPr lang="en-US" altLang="zh-TW" sz="2400">
                <a:latin typeface="Times New Roman" pitchFamily="18" charset="0"/>
              </a:rPr>
              <a:t>Difference in positioning accuracy</a:t>
            </a:r>
          </a:p>
          <a:p>
            <a:pPr lvl="1" eaLnBrk="1" hangingPunct="1"/>
            <a:r>
              <a:rPr lang="en-US" altLang="zh-TW" sz="2400">
                <a:latin typeface="Times New Roman" pitchFamily="18" charset="0"/>
              </a:rPr>
              <a:t>Commercial models in roaming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TW" sz="4000">
                <a:latin typeface="Times New Roman" pitchFamily="18" charset="0"/>
              </a:rPr>
              <a:t>Major issues faced by LBS</a:t>
            </a:r>
          </a:p>
        </p:txBody>
      </p:sp>
      <p:sp>
        <p:nvSpPr>
          <p:cNvPr id="43011" name="Rectangle 3"/>
          <p:cNvSpPr>
            <a:spLocks noGrp="1" noChangeArrowheads="1"/>
          </p:cNvSpPr>
          <p:nvPr>
            <p:ph type="body" idx="1"/>
          </p:nvPr>
        </p:nvSpPr>
        <p:spPr>
          <a:xfrm>
            <a:off x="457200" y="1600200"/>
            <a:ext cx="4978400" cy="4525963"/>
          </a:xfrm>
        </p:spPr>
        <p:txBody>
          <a:bodyPr/>
          <a:lstStyle/>
          <a:p>
            <a:pPr eaLnBrk="1" hangingPunct="1"/>
            <a:r>
              <a:rPr lang="en-US" altLang="zh-TW" sz="2800">
                <a:latin typeface="Times New Roman" pitchFamily="18" charset="0"/>
              </a:rPr>
              <a:t>Privacy</a:t>
            </a:r>
          </a:p>
          <a:p>
            <a:pPr lvl="1" eaLnBrk="1" hangingPunct="1"/>
            <a:r>
              <a:rPr lang="en-US" altLang="zh-TW" sz="2400">
                <a:latin typeface="Times New Roman" pitchFamily="18" charset="0"/>
              </a:rPr>
              <a:t>Opt-in/ Opt-out policy</a:t>
            </a:r>
          </a:p>
          <a:p>
            <a:pPr lvl="1" eaLnBrk="1" hangingPunct="1"/>
            <a:r>
              <a:rPr lang="en-US" altLang="zh-TW" sz="2400">
                <a:latin typeface="Times New Roman" pitchFamily="18" charset="0"/>
              </a:rPr>
              <a:t>Applications development/service provider</a:t>
            </a:r>
          </a:p>
          <a:p>
            <a:pPr lvl="1" eaLnBrk="1" hangingPunct="1"/>
            <a:r>
              <a:rPr lang="en-US" altLang="zh-TW" sz="2400">
                <a:latin typeface="Times New Roman" pitchFamily="18" charset="0"/>
              </a:rPr>
              <a:t>Dilemma of In-house/out-source development</a:t>
            </a:r>
          </a:p>
          <a:p>
            <a:pPr lvl="2" eaLnBrk="1" hangingPunct="1"/>
            <a:r>
              <a:rPr lang="en-US" altLang="zh-TW" sz="2000">
                <a:latin typeface="Times New Roman" pitchFamily="18" charset="0"/>
              </a:rPr>
              <a:t>Outsourcing the service/development can reduce the cost of operation. But the operator’s network data are very sensitive and involve privacy issues.</a:t>
            </a:r>
          </a:p>
        </p:txBody>
      </p:sp>
      <p:pic>
        <p:nvPicPr>
          <p:cNvPr id="430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42038" y="1889125"/>
            <a:ext cx="2462212"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519113" y="2924175"/>
            <a:ext cx="8229600" cy="490538"/>
          </a:xfrm>
        </p:spPr>
        <p:txBody>
          <a:bodyPr/>
          <a:lstStyle/>
          <a:p>
            <a:pPr eaLnBrk="1" hangingPunct="1"/>
            <a:r>
              <a:rPr lang="en-US" altLang="zh-TW" sz="5400">
                <a:latin typeface="Times New Roman" pitchFamily="18" charset="0"/>
              </a:rPr>
              <a:t>Q&amp;A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D5F15-A95A-3698-1554-63677AF70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9113F-03A2-2510-888D-85DA93854F63}"/>
              </a:ext>
            </a:extLst>
          </p:cNvPr>
          <p:cNvSpPr>
            <a:spLocks noGrp="1"/>
          </p:cNvSpPr>
          <p:nvPr>
            <p:ph type="title"/>
          </p:nvPr>
        </p:nvSpPr>
        <p:spPr/>
        <p:txBody>
          <a:bodyPr/>
          <a:lstStyle/>
          <a:p>
            <a:r>
              <a:rPr lang="en-US" altLang="zh-TW" dirty="0">
                <a:latin typeface="Times New Roman" pitchFamily="18" charset="0"/>
              </a:rPr>
              <a:t>Enabling Technology</a:t>
            </a:r>
            <a:r>
              <a:rPr lang="en-US" altLang="zh-TW">
                <a:latin typeface="Times New Roman" pitchFamily="18" charset="0"/>
              </a:rPr>
              <a:t>: QR CODE</a:t>
            </a:r>
            <a:endParaRPr lang="en-US" dirty="0"/>
          </a:p>
        </p:txBody>
      </p:sp>
    </p:spTree>
    <p:extLst>
      <p:ext uri="{BB962C8B-B14F-4D97-AF65-F5344CB8AC3E}">
        <p14:creationId xmlns:p14="http://schemas.microsoft.com/office/powerpoint/2010/main" val="2413709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Aharoni" pitchFamily="2" charset="-79"/>
                <a:cs typeface="Aharoni" pitchFamily="2" charset="-79"/>
              </a:rPr>
              <a:t>Barcode vs QR Code</a:t>
            </a:r>
          </a:p>
        </p:txBody>
      </p:sp>
      <p:sp>
        <p:nvSpPr>
          <p:cNvPr id="3" name="Content Placeholder 2"/>
          <p:cNvSpPr>
            <a:spLocks noGrp="1"/>
          </p:cNvSpPr>
          <p:nvPr>
            <p:ph idx="1"/>
          </p:nvPr>
        </p:nvSpPr>
        <p:spPr/>
        <p:txBody>
          <a:bodyPr>
            <a:noAutofit/>
          </a:bodyPr>
          <a:lstStyle/>
          <a:p>
            <a:r>
              <a:rPr lang="en-US" sz="2400" dirty="0"/>
              <a:t>Barcode </a:t>
            </a:r>
          </a:p>
          <a:p>
            <a:pPr lvl="1"/>
            <a:r>
              <a:rPr lang="en-US" sz="2000" dirty="0"/>
              <a:t> a code consisting of a group of printed and variously patterned bars and spaces and sometimes numerals that is designed to be scanned and read into computer memory and that contains information (as identification) about the object it labels.</a:t>
            </a:r>
          </a:p>
          <a:p>
            <a:endParaRPr lang="en-US" sz="2400" dirty="0"/>
          </a:p>
          <a:p>
            <a:r>
              <a:rPr lang="en-US" sz="2400" dirty="0"/>
              <a:t>QR Code </a:t>
            </a:r>
          </a:p>
          <a:p>
            <a:pPr lvl="1"/>
            <a:r>
              <a:rPr lang="en-US" sz="2000" dirty="0"/>
              <a:t>a matrix barcode (or two-dimensional code), readable by QR scanners, mobile phones with a camera, and smartphones.</a:t>
            </a:r>
          </a:p>
          <a:p>
            <a:endParaRPr lang="en-US" sz="2400" dirty="0"/>
          </a:p>
          <a:p>
            <a:endParaRPr lang="en-US" sz="2400" dirty="0"/>
          </a:p>
        </p:txBody>
      </p:sp>
    </p:spTree>
    <p:extLst>
      <p:ext uri="{BB962C8B-B14F-4D97-AF65-F5344CB8AC3E}">
        <p14:creationId xmlns:p14="http://schemas.microsoft.com/office/powerpoint/2010/main" val="20732859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98" y="-44449"/>
            <a:ext cx="8229600" cy="1143000"/>
          </a:xfrm>
        </p:spPr>
        <p:txBody>
          <a:bodyPr/>
          <a:lstStyle/>
          <a:p>
            <a:pPr algn="l"/>
            <a:r>
              <a:rPr lang="en-US" dirty="0">
                <a:solidFill>
                  <a:schemeClr val="tx1"/>
                </a:solidFill>
                <a:latin typeface="Aharoni" pitchFamily="2" charset="-79"/>
                <a:cs typeface="Aharoni" pitchFamily="2" charset="-79"/>
              </a:rPr>
              <a:t>Different Codes</a:t>
            </a:r>
          </a:p>
        </p:txBody>
      </p:sp>
      <p:sp>
        <p:nvSpPr>
          <p:cNvPr id="4" name="Text Placeholder 3"/>
          <p:cNvSpPr>
            <a:spLocks noGrp="1"/>
          </p:cNvSpPr>
          <p:nvPr>
            <p:ph type="body" idx="1"/>
          </p:nvPr>
        </p:nvSpPr>
        <p:spPr/>
        <p:txBody>
          <a:bodyPr/>
          <a:lstStyle/>
          <a:p>
            <a:r>
              <a:rPr lang="en-US" dirty="0">
                <a:solidFill>
                  <a:schemeClr val="tx1"/>
                </a:solidFill>
                <a:latin typeface="Aharoni" pitchFamily="2" charset="-79"/>
                <a:cs typeface="Aharoni" pitchFamily="2" charset="-79"/>
              </a:rPr>
              <a:t>Code </a:t>
            </a:r>
            <a:r>
              <a:rPr lang="en-US" sz="2800" dirty="0">
                <a:solidFill>
                  <a:schemeClr val="tx1"/>
                </a:solidFill>
                <a:latin typeface="Aharoni" pitchFamily="2" charset="-79"/>
                <a:cs typeface="Aharoni" pitchFamily="2" charset="-79"/>
              </a:rPr>
              <a:t>39</a:t>
            </a:r>
            <a:endParaRPr lang="en-US" dirty="0">
              <a:solidFill>
                <a:schemeClr val="tx1"/>
              </a:solidFill>
              <a:latin typeface="Aharoni" pitchFamily="2" charset="-79"/>
              <a:cs typeface="Aharoni" pitchFamily="2" charset="-79"/>
            </a:endParaRPr>
          </a:p>
        </p:txBody>
      </p:sp>
      <p:sp>
        <p:nvSpPr>
          <p:cNvPr id="5" name="Content Placeholder 4"/>
          <p:cNvSpPr>
            <a:spLocks noGrp="1"/>
          </p:cNvSpPr>
          <p:nvPr>
            <p:ph sz="half" idx="2"/>
          </p:nvPr>
        </p:nvSpPr>
        <p:spPr>
          <a:xfrm>
            <a:off x="304800" y="2174875"/>
            <a:ext cx="5105400" cy="3951288"/>
          </a:xfrm>
        </p:spPr>
        <p:txBody>
          <a:bodyPr/>
          <a:lstStyle/>
          <a:p>
            <a:r>
              <a:rPr lang="en-US" dirty="0"/>
              <a:t>Defines 43 Characters.</a:t>
            </a:r>
          </a:p>
          <a:p>
            <a:r>
              <a:rPr lang="en-US" dirty="0"/>
              <a:t>Typically used in non-retail areas.</a:t>
            </a:r>
          </a:p>
          <a:p>
            <a:r>
              <a:rPr lang="en-US" dirty="0"/>
              <a:t>Arguably the simplest barcode.</a:t>
            </a:r>
          </a:p>
          <a:p>
            <a:endParaRPr lang="en-US" sz="2000" dirty="0"/>
          </a:p>
          <a:p>
            <a:endParaRPr lang="en-US" dirty="0"/>
          </a:p>
        </p:txBody>
      </p:sp>
      <p:pic>
        <p:nvPicPr>
          <p:cNvPr id="10" name="Content Placeholder 9"/>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990600" y="4191000"/>
            <a:ext cx="3657600" cy="1719384"/>
          </a:xfr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2676" y="1484784"/>
            <a:ext cx="2282820" cy="5207953"/>
          </a:xfrm>
          <a:prstGeom prst="rect">
            <a:avLst/>
          </a:prstGeom>
        </p:spPr>
      </p:pic>
    </p:spTree>
    <p:extLst>
      <p:ext uri="{BB962C8B-B14F-4D97-AF65-F5344CB8AC3E}">
        <p14:creationId xmlns:p14="http://schemas.microsoft.com/office/powerpoint/2010/main" val="23335490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solidFill>
                  <a:schemeClr val="tx1"/>
                </a:solidFill>
                <a:latin typeface="Aharoni" pitchFamily="2" charset="-79"/>
                <a:cs typeface="Aharoni" pitchFamily="2" charset="-79"/>
              </a:rPr>
              <a:t>Different Codes</a:t>
            </a:r>
            <a:endParaRPr lang="en-US" dirty="0"/>
          </a:p>
        </p:txBody>
      </p:sp>
      <p:sp>
        <p:nvSpPr>
          <p:cNvPr id="14" name="Text Placeholder 13"/>
          <p:cNvSpPr>
            <a:spLocks noGrp="1"/>
          </p:cNvSpPr>
          <p:nvPr>
            <p:ph type="body" idx="1"/>
          </p:nvPr>
        </p:nvSpPr>
        <p:spPr/>
        <p:txBody>
          <a:bodyPr/>
          <a:lstStyle/>
          <a:p>
            <a:r>
              <a:rPr lang="en-US" dirty="0">
                <a:solidFill>
                  <a:schemeClr val="tx1"/>
                </a:solidFill>
                <a:latin typeface="Aharoni" pitchFamily="2" charset="-79"/>
                <a:cs typeface="Aharoni" pitchFamily="2" charset="-79"/>
              </a:rPr>
              <a:t>Code </a:t>
            </a:r>
            <a:r>
              <a:rPr lang="en-US" sz="2800" dirty="0">
                <a:solidFill>
                  <a:schemeClr val="tx1"/>
                </a:solidFill>
                <a:latin typeface="Aharoni" pitchFamily="2" charset="-79"/>
                <a:cs typeface="Aharoni" pitchFamily="2" charset="-79"/>
              </a:rPr>
              <a:t>128</a:t>
            </a:r>
            <a:endParaRPr lang="en-US" dirty="0">
              <a:solidFill>
                <a:schemeClr val="tx1"/>
              </a:solidFill>
              <a:latin typeface="Aharoni" pitchFamily="2" charset="-79"/>
              <a:cs typeface="Aharoni" pitchFamily="2" charset="-79"/>
            </a:endParaRPr>
          </a:p>
        </p:txBody>
      </p:sp>
      <p:sp>
        <p:nvSpPr>
          <p:cNvPr id="15" name="Content Placeholder 14"/>
          <p:cNvSpPr>
            <a:spLocks noGrp="1"/>
          </p:cNvSpPr>
          <p:nvPr>
            <p:ph sz="half" idx="2"/>
          </p:nvPr>
        </p:nvSpPr>
        <p:spPr/>
        <p:txBody>
          <a:bodyPr/>
          <a:lstStyle/>
          <a:p>
            <a:r>
              <a:rPr lang="en-US" dirty="0"/>
              <a:t>Defines the entire 128 ASCII character set.</a:t>
            </a:r>
          </a:p>
          <a:p>
            <a:r>
              <a:rPr lang="en-US" dirty="0"/>
              <a:t>Typically used in shipping/retail.</a:t>
            </a:r>
          </a:p>
          <a:p>
            <a:pPr marL="114300" indent="0">
              <a:buNone/>
            </a:pPr>
            <a:endParaRPr lang="en-US" dirty="0"/>
          </a:p>
        </p:txBody>
      </p:sp>
      <p:pic>
        <p:nvPicPr>
          <p:cNvPr id="18" name="Content Placeholder 17"/>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4343400" y="2676525"/>
            <a:ext cx="3994958" cy="1504950"/>
          </a:xfrm>
        </p:spPr>
      </p:pic>
    </p:spTree>
    <p:extLst>
      <p:ext uri="{BB962C8B-B14F-4D97-AF65-F5344CB8AC3E}">
        <p14:creationId xmlns:p14="http://schemas.microsoft.com/office/powerpoint/2010/main" val="3677250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7620000" cy="2027238"/>
          </a:xfrm>
        </p:spPr>
        <p:txBody>
          <a:bodyPr/>
          <a:lstStyle/>
          <a:p>
            <a:r>
              <a:rPr lang="en-US" sz="3600" dirty="0">
                <a:solidFill>
                  <a:schemeClr val="tx1"/>
                </a:solidFill>
                <a:latin typeface="Aharoni" pitchFamily="2" charset="-79"/>
                <a:cs typeface="Aharoni" pitchFamily="2" charset="-79"/>
              </a:rPr>
              <a:t>How does a scanner/smartphone interpret a barcode</a:t>
            </a:r>
            <a:r>
              <a:rPr lang="en-US" sz="4800" dirty="0">
                <a:solidFill>
                  <a:schemeClr val="tx1"/>
                </a:solidFill>
                <a:latin typeface="Aharoni" pitchFamily="2" charset="-79"/>
                <a:cs typeface="Aharoni" pitchFamily="2" charset="-79"/>
              </a:rPr>
              <a:t>?</a:t>
            </a:r>
            <a:endParaRPr lang="en-US" sz="3600" dirty="0">
              <a:solidFill>
                <a:schemeClr val="tx1"/>
              </a:solidFill>
              <a:latin typeface="Aharoni" pitchFamily="2" charset="-79"/>
              <a:cs typeface="Aharoni" pitchFamily="2" charset="-79"/>
            </a:endParaRPr>
          </a:p>
        </p:txBody>
      </p:sp>
      <p:sp>
        <p:nvSpPr>
          <p:cNvPr id="3" name="Content Placeholder 2"/>
          <p:cNvSpPr>
            <a:spLocks noGrp="1"/>
          </p:cNvSpPr>
          <p:nvPr>
            <p:ph idx="1"/>
          </p:nvPr>
        </p:nvSpPr>
        <p:spPr>
          <a:xfrm>
            <a:off x="457200" y="2780928"/>
            <a:ext cx="7620000" cy="2971800"/>
          </a:xfrm>
        </p:spPr>
        <p:txBody>
          <a:bodyPr/>
          <a:lstStyle/>
          <a:p>
            <a:r>
              <a:rPr lang="en-US" sz="2800" dirty="0"/>
              <a:t>Each barcode is interpreted similarly and yet also slightly differently as well.</a:t>
            </a:r>
          </a:p>
          <a:p>
            <a:r>
              <a:rPr lang="en-US" sz="2800" dirty="0"/>
              <a:t>Barcodes also happen to be less complex that QR Codes.</a:t>
            </a:r>
          </a:p>
          <a:p>
            <a:r>
              <a:rPr lang="en-US" sz="2800" dirty="0"/>
              <a:t>Barcodes can use scanners, whereas QR Codes require something else (</a:t>
            </a:r>
            <a:r>
              <a:rPr lang="en-US" sz="2800" dirty="0" err="1"/>
              <a:t>i.e</a:t>
            </a:r>
            <a:r>
              <a:rPr lang="en-US" sz="2800" dirty="0"/>
              <a:t> smartphones, computer, game machines)</a:t>
            </a:r>
          </a:p>
          <a:p>
            <a:endParaRPr lang="en-US" sz="2800" dirty="0"/>
          </a:p>
        </p:txBody>
      </p:sp>
    </p:spTree>
    <p:extLst>
      <p:ext uri="{BB962C8B-B14F-4D97-AF65-F5344CB8AC3E}">
        <p14:creationId xmlns:p14="http://schemas.microsoft.com/office/powerpoint/2010/main" val="14232449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barcode sc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216" y="219074"/>
            <a:ext cx="2209800" cy="20669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51520" y="274638"/>
            <a:ext cx="8229600" cy="1143000"/>
          </a:xfrm>
        </p:spPr>
        <p:txBody>
          <a:bodyPr/>
          <a:lstStyle/>
          <a:p>
            <a:pPr algn="l"/>
            <a:r>
              <a:rPr lang="en-US" sz="4000" dirty="0">
                <a:solidFill>
                  <a:schemeClr val="tx1"/>
                </a:solidFill>
                <a:latin typeface="Aharoni" pitchFamily="2" charset="-79"/>
                <a:cs typeface="Aharoni" pitchFamily="2" charset="-79"/>
              </a:rPr>
              <a:t>Barcodes</a:t>
            </a:r>
          </a:p>
        </p:txBody>
      </p:sp>
      <p:sp>
        <p:nvSpPr>
          <p:cNvPr id="3" name="Content Placeholder 2"/>
          <p:cNvSpPr>
            <a:spLocks noGrp="1"/>
          </p:cNvSpPr>
          <p:nvPr>
            <p:ph idx="1"/>
          </p:nvPr>
        </p:nvSpPr>
        <p:spPr>
          <a:xfrm>
            <a:off x="251520" y="2420888"/>
            <a:ext cx="4724400" cy="4800600"/>
          </a:xfrm>
        </p:spPr>
        <p:txBody>
          <a:bodyPr>
            <a:normAutofit fontScale="70000" lnSpcReduction="20000"/>
          </a:bodyPr>
          <a:lstStyle/>
          <a:p>
            <a:r>
              <a:rPr lang="en-US" dirty="0"/>
              <a:t>Barcode scanners are made of 3 different parts: an illuminator,  a convertor, and a decoder.</a:t>
            </a:r>
          </a:p>
          <a:p>
            <a:r>
              <a:rPr lang="en-US" dirty="0"/>
              <a:t>The illuminator shoots out a line of light (typically red) at the barcode.</a:t>
            </a:r>
          </a:p>
          <a:p>
            <a:r>
              <a:rPr lang="en-US" dirty="0"/>
              <a:t>Light will reflect from the barcode (from anywhere that is not black) in the form of a wave.</a:t>
            </a:r>
          </a:p>
          <a:p>
            <a:r>
              <a:rPr lang="en-US" dirty="0"/>
              <a:t>The convertor converts the wave into a readable form for the device.</a:t>
            </a:r>
          </a:p>
          <a:p>
            <a:r>
              <a:rPr lang="en-US" dirty="0"/>
              <a:t>Decoder reads the converted information.</a:t>
            </a:r>
          </a:p>
        </p:txBody>
      </p:sp>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4372342" y="-228600"/>
            <a:ext cx="4302074" cy="3111500"/>
          </a:xfrm>
          <a:prstGeom prst="rect">
            <a:avLst/>
          </a:prstGeom>
        </p:spPr>
      </p:pic>
      <p:sp>
        <p:nvSpPr>
          <p:cNvPr id="6" name="TextBox 5"/>
          <p:cNvSpPr txBox="1"/>
          <p:nvPr/>
        </p:nvSpPr>
        <p:spPr>
          <a:xfrm>
            <a:off x="5257800" y="381000"/>
            <a:ext cx="1951432" cy="369332"/>
          </a:xfrm>
          <a:prstGeom prst="rect">
            <a:avLst/>
          </a:prstGeom>
          <a:noFill/>
        </p:spPr>
        <p:txBody>
          <a:bodyPr wrap="none" rtlCol="0">
            <a:spAutoFit/>
          </a:bodyPr>
          <a:lstStyle/>
          <a:p>
            <a:r>
              <a:rPr lang="en-US" dirty="0">
                <a:solidFill>
                  <a:srgbClr val="FF0000"/>
                </a:solidFill>
                <a:effectLst>
                  <a:outerShdw blurRad="38100" dist="38100" dir="2700000" algn="tl">
                    <a:srgbClr val="000000">
                      <a:alpha val="43137"/>
                    </a:srgbClr>
                  </a:outerShdw>
                </a:effectLst>
              </a:rPr>
              <a:t>Light from Scanner</a:t>
            </a:r>
          </a:p>
        </p:txBody>
      </p:sp>
      <p:sp>
        <p:nvSpPr>
          <p:cNvPr id="7" name="TextBox 6"/>
          <p:cNvSpPr txBox="1"/>
          <p:nvPr/>
        </p:nvSpPr>
        <p:spPr>
          <a:xfrm>
            <a:off x="7116528" y="2286000"/>
            <a:ext cx="951992" cy="369332"/>
          </a:xfrm>
          <a:prstGeom prst="rect">
            <a:avLst/>
          </a:prstGeom>
          <a:noFill/>
        </p:spPr>
        <p:txBody>
          <a:bodyPr wrap="none" rtlCol="0">
            <a:spAutoFit/>
          </a:bodyPr>
          <a:lstStyle/>
          <a:p>
            <a:r>
              <a:rPr lang="en-US" dirty="0">
                <a:effectLst>
                  <a:outerShdw blurRad="38100" dist="38100" dir="2700000" algn="tl">
                    <a:srgbClr val="000000">
                      <a:alpha val="43137"/>
                    </a:srgbClr>
                  </a:outerShdw>
                </a:effectLst>
              </a:rPr>
              <a:t>Barcode</a:t>
            </a:r>
          </a:p>
        </p:txBody>
      </p:sp>
      <p:sp>
        <p:nvSpPr>
          <p:cNvPr id="8" name="TextBox 7"/>
          <p:cNvSpPr txBox="1"/>
          <p:nvPr/>
        </p:nvSpPr>
        <p:spPr>
          <a:xfrm>
            <a:off x="6773326" y="957818"/>
            <a:ext cx="1638397" cy="369332"/>
          </a:xfrm>
          <a:prstGeom prst="rect">
            <a:avLst/>
          </a:prstGeom>
          <a:noFill/>
        </p:spPr>
        <p:txBody>
          <a:bodyPr wrap="none" rtlCol="0">
            <a:spAutoFit/>
          </a:bodyPr>
          <a:lstStyle/>
          <a:p>
            <a:r>
              <a:rPr lang="en-US" dirty="0">
                <a:solidFill>
                  <a:srgbClr val="FFC000"/>
                </a:solidFill>
                <a:effectLst>
                  <a:outerShdw blurRad="38100" dist="38100" dir="2700000" algn="tl">
                    <a:srgbClr val="000000">
                      <a:alpha val="43137"/>
                    </a:srgbClr>
                  </a:outerShdw>
                </a:effectLst>
              </a:rPr>
              <a:t>Light Reflection</a:t>
            </a: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71526" y="3644900"/>
            <a:ext cx="3403600" cy="76200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81600" y="5486400"/>
            <a:ext cx="3111500" cy="711200"/>
          </a:xfrm>
          <a:prstGeom prst="rect">
            <a:avLst/>
          </a:prstGeom>
        </p:spPr>
      </p:pic>
      <p:sp>
        <p:nvSpPr>
          <p:cNvPr id="11" name="Down Arrow 10"/>
          <p:cNvSpPr/>
          <p:nvPr/>
        </p:nvSpPr>
        <p:spPr>
          <a:xfrm>
            <a:off x="6400800" y="2882900"/>
            <a:ext cx="808432" cy="622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Down Arrow 11"/>
          <p:cNvSpPr/>
          <p:nvPr/>
        </p:nvSpPr>
        <p:spPr>
          <a:xfrm>
            <a:off x="6400800" y="4648200"/>
            <a:ext cx="808432" cy="622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20906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274638"/>
            <a:ext cx="7620000" cy="1143000"/>
          </a:xfrm>
        </p:spPr>
        <p:txBody>
          <a:bodyPr/>
          <a:lstStyle/>
          <a:p>
            <a:r>
              <a:rPr lang="en-US" dirty="0">
                <a:solidFill>
                  <a:schemeClr val="tx1"/>
                </a:solidFill>
                <a:latin typeface="Aharoni" pitchFamily="2" charset="-79"/>
                <a:cs typeface="Aharoni" pitchFamily="2" charset="-79"/>
              </a:rPr>
              <a:t>QR Codes</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67400" y="685800"/>
            <a:ext cx="1752600" cy="1752600"/>
          </a:xfrm>
        </p:spPr>
      </p:pic>
      <p:sp>
        <p:nvSpPr>
          <p:cNvPr id="6" name="Rectangle 5"/>
          <p:cNvSpPr/>
          <p:nvPr/>
        </p:nvSpPr>
        <p:spPr>
          <a:xfrm>
            <a:off x="5715000" y="533400"/>
            <a:ext cx="2057400" cy="2057400"/>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8" name="Straight Connector 7"/>
          <p:cNvCxnSpPr>
            <a:stCxn id="6" idx="1"/>
          </p:cNvCxnSpPr>
          <p:nvPr/>
        </p:nvCxnSpPr>
        <p:spPr>
          <a:xfrm>
            <a:off x="5715000" y="1562100"/>
            <a:ext cx="2057400" cy="0"/>
          </a:xfrm>
          <a:prstGeom prst="line">
            <a:avLst/>
          </a:prstGeom>
          <a:ln>
            <a:solidFill>
              <a:srgbClr val="FF0000"/>
            </a:solidFill>
          </a:ln>
        </p:spPr>
        <p:style>
          <a:lnRef idx="2">
            <a:schemeClr val="accent4"/>
          </a:lnRef>
          <a:fillRef idx="0">
            <a:schemeClr val="accent4"/>
          </a:fillRef>
          <a:effectRef idx="1">
            <a:schemeClr val="accent4"/>
          </a:effectRef>
          <a:fontRef idx="minor">
            <a:schemeClr val="tx1"/>
          </a:fontRef>
        </p:style>
      </p:cxnSp>
      <p:sp>
        <p:nvSpPr>
          <p:cNvPr id="10" name="Content Placeholder 2"/>
          <p:cNvSpPr txBox="1">
            <a:spLocks/>
          </p:cNvSpPr>
          <p:nvPr/>
        </p:nvSpPr>
        <p:spPr>
          <a:xfrm>
            <a:off x="457200" y="1652736"/>
            <a:ext cx="44196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pPr>
              <a:buFont typeface="Wingdings" panose="05000000000000000000" pitchFamily="2" charset="2"/>
              <a:buChar char="n"/>
            </a:pPr>
            <a:r>
              <a:rPr lang="en-US" b="0" dirty="0"/>
              <a:t>Certain applications on a smart phone / portable gaming device can scan QR codes.</a:t>
            </a:r>
          </a:p>
          <a:p>
            <a:pPr>
              <a:buFont typeface="Wingdings" panose="05000000000000000000" pitchFamily="2" charset="2"/>
              <a:buChar char="n"/>
            </a:pPr>
            <a:r>
              <a:rPr lang="en-US" b="0" dirty="0"/>
              <a:t>Instead of bouncing off an image via light, QR Codes are interpreted from a picture skipping the light wave process.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1526" y="3644900"/>
            <a:ext cx="3403600" cy="762000"/>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1600" y="5486400"/>
            <a:ext cx="3111500" cy="711200"/>
          </a:xfrm>
          <a:prstGeom prst="rect">
            <a:avLst/>
          </a:prstGeom>
        </p:spPr>
      </p:pic>
      <p:sp>
        <p:nvSpPr>
          <p:cNvPr id="13" name="Down Arrow 12"/>
          <p:cNvSpPr/>
          <p:nvPr/>
        </p:nvSpPr>
        <p:spPr>
          <a:xfrm>
            <a:off x="6400800" y="2882900"/>
            <a:ext cx="808432" cy="622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Down Arrow 13"/>
          <p:cNvSpPr/>
          <p:nvPr/>
        </p:nvSpPr>
        <p:spPr>
          <a:xfrm>
            <a:off x="6400800" y="4648200"/>
            <a:ext cx="808432" cy="622300"/>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quot;No&quot; Symbol 14"/>
          <p:cNvSpPr/>
          <p:nvPr/>
        </p:nvSpPr>
        <p:spPr>
          <a:xfrm flipH="1">
            <a:off x="5970051" y="2882900"/>
            <a:ext cx="1606550" cy="1524000"/>
          </a:xfrm>
          <a:prstGeom prst="noSmoking">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704481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ltLang="zh-TW" sz="5400">
                <a:latin typeface="Times New Roman" pitchFamily="18" charset="0"/>
              </a:rPr>
              <a:t>QR Code</a:t>
            </a:r>
          </a:p>
        </p:txBody>
      </p:sp>
      <p:pic>
        <p:nvPicPr>
          <p:cNvPr id="7168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1349375"/>
            <a:ext cx="6230937" cy="499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5904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274638"/>
            <a:ext cx="7620000" cy="1143000"/>
          </a:xfrm>
        </p:spPr>
        <p:txBody>
          <a:bodyPr/>
          <a:lstStyle/>
          <a:p>
            <a:r>
              <a:rPr lang="en-US" dirty="0">
                <a:solidFill>
                  <a:schemeClr val="tx1"/>
                </a:solidFill>
                <a:latin typeface="Aharoni" pitchFamily="2" charset="-79"/>
                <a:cs typeface="Aharoni" pitchFamily="2" charset="-79"/>
              </a:rPr>
              <a:t>QR Codes</a:t>
            </a:r>
            <a:endParaRPr lang="en-US" dirty="0"/>
          </a:p>
        </p:txBody>
      </p:sp>
      <p:sp>
        <p:nvSpPr>
          <p:cNvPr id="10" name="Content Placeholder 2"/>
          <p:cNvSpPr txBox="1">
            <a:spLocks/>
          </p:cNvSpPr>
          <p:nvPr/>
        </p:nvSpPr>
        <p:spPr>
          <a:xfrm>
            <a:off x="457200" y="1600200"/>
            <a:ext cx="44196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en-US" dirty="0"/>
              <a:t>Interpretation of the code is that excluding the no zones, each black module is a 1 bit and a white one is a 0 bit.</a:t>
            </a:r>
          </a:p>
          <a:p>
            <a:endParaRPr lang="en-US" dirty="0"/>
          </a:p>
          <a:p>
            <a:endParaRPr lang="en-US" dirty="0"/>
          </a:p>
        </p:txBody>
      </p:sp>
      <p:pic>
        <p:nvPicPr>
          <p:cNvPr id="16"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67400" y="25400"/>
            <a:ext cx="2699042" cy="2699042"/>
          </a:xfrm>
        </p:spPr>
      </p:pic>
      <p:cxnSp>
        <p:nvCxnSpPr>
          <p:cNvPr id="9" name="Straight Arrow Connector 8"/>
          <p:cNvCxnSpPr/>
          <p:nvPr/>
        </p:nvCxnSpPr>
        <p:spPr>
          <a:xfrm flipV="1">
            <a:off x="6858000" y="2590800"/>
            <a:ext cx="0" cy="381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V="1">
            <a:off x="8382000" y="2590800"/>
            <a:ext cx="0" cy="381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8" name="TextBox 17"/>
          <p:cNvSpPr txBox="1"/>
          <p:nvPr/>
        </p:nvSpPr>
        <p:spPr>
          <a:xfrm>
            <a:off x="6734362" y="2895600"/>
            <a:ext cx="276038" cy="307777"/>
          </a:xfrm>
          <a:prstGeom prst="rect">
            <a:avLst/>
          </a:prstGeom>
          <a:noFill/>
        </p:spPr>
        <p:txBody>
          <a:bodyPr wrap="none" rtlCol="0">
            <a:spAutoFit/>
          </a:bodyPr>
          <a:lstStyle/>
          <a:p>
            <a:r>
              <a:rPr lang="en-US" sz="1400" dirty="0"/>
              <a:t>0</a:t>
            </a:r>
          </a:p>
        </p:txBody>
      </p:sp>
      <p:sp>
        <p:nvSpPr>
          <p:cNvPr id="19" name="TextBox 18"/>
          <p:cNvSpPr txBox="1"/>
          <p:nvPr/>
        </p:nvSpPr>
        <p:spPr>
          <a:xfrm>
            <a:off x="8258362" y="2895600"/>
            <a:ext cx="276038" cy="307777"/>
          </a:xfrm>
          <a:prstGeom prst="rect">
            <a:avLst/>
          </a:prstGeom>
          <a:noFill/>
        </p:spPr>
        <p:txBody>
          <a:bodyPr wrap="none" rtlCol="0">
            <a:spAutoFit/>
          </a:bodyPr>
          <a:lstStyle/>
          <a:p>
            <a:r>
              <a:rPr lang="en-US" sz="1400" dirty="0"/>
              <a:t>1</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545" y="3505200"/>
            <a:ext cx="7179597" cy="33430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89291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US" altLang="zh-TW" sz="4800">
                <a:latin typeface="Times New Roman" pitchFamily="18" charset="0"/>
              </a:rPr>
              <a:t>QR Code</a:t>
            </a:r>
          </a:p>
        </p:txBody>
      </p:sp>
      <p:sp>
        <p:nvSpPr>
          <p:cNvPr id="72707" name="Rectangle 3"/>
          <p:cNvSpPr>
            <a:spLocks noGrp="1" noChangeArrowheads="1"/>
          </p:cNvSpPr>
          <p:nvPr>
            <p:ph type="body" idx="1"/>
          </p:nvPr>
        </p:nvSpPr>
        <p:spPr>
          <a:xfrm>
            <a:off x="395288" y="1196975"/>
            <a:ext cx="8424862" cy="3960813"/>
          </a:xfrm>
        </p:spPr>
        <p:txBody>
          <a:bodyPr/>
          <a:lstStyle/>
          <a:p>
            <a:pPr eaLnBrk="1" hangingPunct="1"/>
            <a:r>
              <a:rPr lang="en-US" altLang="zh-TW" sz="2000">
                <a:latin typeface="Times New Roman" pitchFamily="18" charset="0"/>
              </a:rPr>
              <a:t>QR codes currently support alphanumeric data capacities of up to about 400 bytes and binary capacities of up to about 270 bytes,</a:t>
            </a:r>
          </a:p>
          <a:p>
            <a:pPr eaLnBrk="1" hangingPunct="1"/>
            <a:r>
              <a:rPr lang="en-US" altLang="zh-TW" sz="2000">
                <a:latin typeface="Times New Roman" pitchFamily="18" charset="0"/>
              </a:rPr>
              <a:t>Handsets requirement:</a:t>
            </a:r>
          </a:p>
          <a:p>
            <a:pPr lvl="1" eaLnBrk="1" hangingPunct="1"/>
            <a:r>
              <a:rPr lang="en-US" altLang="zh-TW" sz="1800">
                <a:latin typeface="Times New Roman" pitchFamily="18" charset="0"/>
              </a:rPr>
              <a:t>macro focus</a:t>
            </a:r>
          </a:p>
          <a:p>
            <a:pPr lvl="1" eaLnBrk="1" hangingPunct="1"/>
            <a:r>
              <a:rPr lang="en-US" altLang="zh-TW" sz="1800">
                <a:latin typeface="Times New Roman" pitchFamily="18" charset="0"/>
              </a:rPr>
              <a:t>resolutions of several megapixels</a:t>
            </a:r>
          </a:p>
        </p:txBody>
      </p:sp>
      <p:pic>
        <p:nvPicPr>
          <p:cNvPr id="727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713" y="3429000"/>
            <a:ext cx="6097587"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9" name="Text Box 5"/>
          <p:cNvSpPr txBox="1">
            <a:spLocks noChangeArrowheads="1"/>
          </p:cNvSpPr>
          <p:nvPr/>
        </p:nvSpPr>
        <p:spPr bwMode="auto">
          <a:xfrm>
            <a:off x="339725" y="6080125"/>
            <a:ext cx="8193088"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400" b="1">
                <a:solidFill>
                  <a:schemeClr val="tx1"/>
                </a:solidFill>
                <a:latin typeface="Arial" charset="0"/>
                <a:ea typeface="新細明體" charset="-120"/>
              </a:defRPr>
            </a:lvl1pPr>
            <a:lvl2pPr marL="742950" indent="-285750" eaLnBrk="0" hangingPunct="0">
              <a:defRPr kumimoji="1" sz="1400" b="1">
                <a:solidFill>
                  <a:schemeClr val="tx1"/>
                </a:solidFill>
                <a:latin typeface="Arial" charset="0"/>
                <a:ea typeface="新細明體" charset="-120"/>
              </a:defRPr>
            </a:lvl2pPr>
            <a:lvl3pPr marL="1143000" indent="-228600" eaLnBrk="0" hangingPunct="0">
              <a:defRPr kumimoji="1" sz="1400" b="1">
                <a:solidFill>
                  <a:schemeClr val="tx1"/>
                </a:solidFill>
                <a:latin typeface="Arial" charset="0"/>
                <a:ea typeface="新細明體" charset="-120"/>
              </a:defRPr>
            </a:lvl3pPr>
            <a:lvl4pPr marL="1600200" indent="-228600" eaLnBrk="0" hangingPunct="0">
              <a:defRPr kumimoji="1" sz="1400" b="1">
                <a:solidFill>
                  <a:schemeClr val="tx1"/>
                </a:solidFill>
                <a:latin typeface="Arial" charset="0"/>
                <a:ea typeface="新細明體" charset="-120"/>
              </a:defRPr>
            </a:lvl4pPr>
            <a:lvl5pPr marL="2057400" indent="-228600" eaLnBrk="0" hangingPunct="0">
              <a:defRPr kumimoji="1" sz="1400" b="1">
                <a:solidFill>
                  <a:schemeClr val="tx1"/>
                </a:solidFill>
                <a:latin typeface="Arial" charset="0"/>
                <a:ea typeface="新細明體" charset="-120"/>
              </a:defRPr>
            </a:lvl5pPr>
            <a:lvl6pPr marL="2514600" indent="-228600" eaLnBrk="0" fontAlgn="base" hangingPunct="0">
              <a:spcBef>
                <a:spcPct val="0"/>
              </a:spcBef>
              <a:spcAft>
                <a:spcPct val="0"/>
              </a:spcAft>
              <a:defRPr kumimoji="1" sz="1400" b="1">
                <a:solidFill>
                  <a:schemeClr val="tx1"/>
                </a:solidFill>
                <a:latin typeface="Arial" charset="0"/>
                <a:ea typeface="新細明體" charset="-120"/>
              </a:defRPr>
            </a:lvl6pPr>
            <a:lvl7pPr marL="2971800" indent="-228600" eaLnBrk="0" fontAlgn="base" hangingPunct="0">
              <a:spcBef>
                <a:spcPct val="0"/>
              </a:spcBef>
              <a:spcAft>
                <a:spcPct val="0"/>
              </a:spcAft>
              <a:defRPr kumimoji="1" sz="1400" b="1">
                <a:solidFill>
                  <a:schemeClr val="tx1"/>
                </a:solidFill>
                <a:latin typeface="Arial" charset="0"/>
                <a:ea typeface="新細明體" charset="-120"/>
              </a:defRPr>
            </a:lvl7pPr>
            <a:lvl8pPr marL="3429000" indent="-228600" eaLnBrk="0" fontAlgn="base" hangingPunct="0">
              <a:spcBef>
                <a:spcPct val="0"/>
              </a:spcBef>
              <a:spcAft>
                <a:spcPct val="0"/>
              </a:spcAft>
              <a:defRPr kumimoji="1" sz="1400" b="1">
                <a:solidFill>
                  <a:schemeClr val="tx1"/>
                </a:solidFill>
                <a:latin typeface="Arial" charset="0"/>
                <a:ea typeface="新細明體" charset="-120"/>
              </a:defRPr>
            </a:lvl8pPr>
            <a:lvl9pPr marL="3886200" indent="-228600" eaLnBrk="0" fontAlgn="base" hangingPunct="0">
              <a:spcBef>
                <a:spcPct val="0"/>
              </a:spcBef>
              <a:spcAft>
                <a:spcPct val="0"/>
              </a:spcAft>
              <a:defRPr kumimoji="1" sz="1400" b="1">
                <a:solidFill>
                  <a:schemeClr val="tx1"/>
                </a:solidFill>
                <a:latin typeface="Arial" charset="0"/>
                <a:ea typeface="新細明體" charset="-120"/>
              </a:defRPr>
            </a:lvl9pPr>
          </a:lstStyle>
          <a:p>
            <a:pPr eaLnBrk="1" hangingPunct="1">
              <a:lnSpc>
                <a:spcPct val="80000"/>
              </a:lnSpc>
              <a:spcBef>
                <a:spcPct val="20000"/>
              </a:spcBef>
            </a:pPr>
            <a:r>
              <a:rPr lang="en-US" altLang="zh-TW" sz="1800"/>
              <a:t>Fig. QR codes encoding alphanumeric data “a123456789a12…” of length (a) 40, (b) 100, (c) 200 characters</a:t>
            </a:r>
          </a:p>
          <a:p>
            <a:pPr eaLnBrk="1" hangingPunct="1"/>
            <a:endParaRPr lang="en-US" altLang="zh-TW" sz="1800"/>
          </a:p>
        </p:txBody>
      </p:sp>
    </p:spTree>
    <p:extLst>
      <p:ext uri="{BB962C8B-B14F-4D97-AF65-F5344CB8AC3E}">
        <p14:creationId xmlns:p14="http://schemas.microsoft.com/office/powerpoint/2010/main" val="34670421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altLang="zh-TW">
                <a:latin typeface="Times New Roman" pitchFamily="18" charset="0"/>
              </a:rPr>
              <a:t>QR Code</a:t>
            </a:r>
          </a:p>
        </p:txBody>
      </p:sp>
      <p:sp>
        <p:nvSpPr>
          <p:cNvPr id="73731" name="Rectangle 3"/>
          <p:cNvSpPr>
            <a:spLocks noGrp="1" noChangeArrowheads="1"/>
          </p:cNvSpPr>
          <p:nvPr>
            <p:ph type="body" idx="1"/>
          </p:nvPr>
        </p:nvSpPr>
        <p:spPr/>
        <p:txBody>
          <a:bodyPr/>
          <a:lstStyle/>
          <a:p>
            <a:pPr eaLnBrk="1" hangingPunct="1">
              <a:lnSpc>
                <a:spcPct val="90000"/>
              </a:lnSpc>
            </a:pPr>
            <a:r>
              <a:rPr lang="en-US" altLang="zh-TW" sz="2400" dirty="0">
                <a:latin typeface="Times New Roman" pitchFamily="18" charset="0"/>
              </a:rPr>
              <a:t>The capacity (when read by a typical camera phone without macro focus, but with resolution of one megapixel or more)</a:t>
            </a:r>
          </a:p>
          <a:p>
            <a:pPr lvl="1" eaLnBrk="1" hangingPunct="1">
              <a:lnSpc>
                <a:spcPct val="90000"/>
              </a:lnSpc>
            </a:pPr>
            <a:r>
              <a:rPr lang="en-US" altLang="zh-TW" sz="2000" dirty="0">
                <a:latin typeface="Times New Roman" pitchFamily="18" charset="0"/>
              </a:rPr>
              <a:t>close to 100 bytes of alphanumeric characters or </a:t>
            </a:r>
          </a:p>
          <a:p>
            <a:pPr lvl="1" eaLnBrk="1" hangingPunct="1">
              <a:lnSpc>
                <a:spcPct val="90000"/>
              </a:lnSpc>
            </a:pPr>
            <a:r>
              <a:rPr lang="en-US" altLang="zh-TW" sz="2000" dirty="0">
                <a:latin typeface="Times New Roman" pitchFamily="18" charset="0"/>
              </a:rPr>
              <a:t>70 bytes of binary data </a:t>
            </a:r>
          </a:p>
          <a:p>
            <a:pPr lvl="1" eaLnBrk="1" hangingPunct="1">
              <a:lnSpc>
                <a:spcPct val="90000"/>
              </a:lnSpc>
            </a:pPr>
            <a:endParaRPr lang="en-US" altLang="zh-TW" sz="2000" dirty="0">
              <a:latin typeface="Times New Roman" pitchFamily="18" charset="0"/>
            </a:endParaRPr>
          </a:p>
          <a:p>
            <a:pPr eaLnBrk="1" hangingPunct="1">
              <a:lnSpc>
                <a:spcPct val="90000"/>
              </a:lnSpc>
            </a:pPr>
            <a:endParaRPr lang="en-US" altLang="zh-TW" sz="2400" dirty="0">
              <a:latin typeface="Times New Roman" pitchFamily="18" charset="0"/>
            </a:endParaRPr>
          </a:p>
          <a:p>
            <a:pPr eaLnBrk="1" hangingPunct="1">
              <a:lnSpc>
                <a:spcPct val="90000"/>
              </a:lnSpc>
            </a:pPr>
            <a:r>
              <a:rPr lang="en-US" altLang="zh-TW" sz="2400" dirty="0">
                <a:latin typeface="Times New Roman" pitchFamily="18" charset="0"/>
              </a:rPr>
              <a:t>Error control:</a:t>
            </a:r>
          </a:p>
          <a:p>
            <a:pPr lvl="1" eaLnBrk="1" hangingPunct="1">
              <a:lnSpc>
                <a:spcPct val="90000"/>
              </a:lnSpc>
            </a:pPr>
            <a:r>
              <a:rPr lang="en-US" altLang="zh-TW" sz="2000" dirty="0">
                <a:latin typeface="Times New Roman" pitchFamily="18" charset="0"/>
              </a:rPr>
              <a:t>The QR </a:t>
            </a:r>
            <a:r>
              <a:rPr lang="en-US" altLang="zh-TW" sz="2000" dirty="0" err="1">
                <a:latin typeface="Times New Roman" pitchFamily="18" charset="0"/>
              </a:rPr>
              <a:t>symbology</a:t>
            </a:r>
            <a:r>
              <a:rPr lang="en-US" altLang="zh-TW" sz="2000" dirty="0">
                <a:latin typeface="Times New Roman" pitchFamily="18" charset="0"/>
              </a:rPr>
              <a:t> supports error correction using the Reed-Solomon method.</a:t>
            </a:r>
          </a:p>
          <a:p>
            <a:pPr lvl="1" eaLnBrk="1" hangingPunct="1">
              <a:lnSpc>
                <a:spcPct val="90000"/>
              </a:lnSpc>
            </a:pPr>
            <a:r>
              <a:rPr lang="en-US" altLang="zh-TW" sz="2000" dirty="0">
                <a:latin typeface="Times New Roman" pitchFamily="18" charset="0"/>
              </a:rPr>
              <a:t>There are four levels of error correction, selectable according to the operating environment. </a:t>
            </a:r>
          </a:p>
          <a:p>
            <a:pPr lvl="1" eaLnBrk="1" hangingPunct="1">
              <a:lnSpc>
                <a:spcPct val="90000"/>
              </a:lnSpc>
            </a:pPr>
            <a:r>
              <a:rPr lang="en-US" altLang="zh-TW" sz="2000" dirty="0">
                <a:latin typeface="Times New Roman" pitchFamily="18" charset="0"/>
              </a:rPr>
              <a:t>The capability ranges from correcting about 7% of the data in a code, to about 30%.</a:t>
            </a:r>
          </a:p>
        </p:txBody>
      </p:sp>
    </p:spTree>
    <p:extLst>
      <p:ext uri="{BB962C8B-B14F-4D97-AF65-F5344CB8AC3E}">
        <p14:creationId xmlns:p14="http://schemas.microsoft.com/office/powerpoint/2010/main" val="16749146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274638"/>
            <a:ext cx="7620000" cy="1143000"/>
          </a:xfrm>
        </p:spPr>
        <p:txBody>
          <a:bodyPr/>
          <a:lstStyle/>
          <a:p>
            <a:r>
              <a:rPr lang="en-US" dirty="0">
                <a:solidFill>
                  <a:schemeClr val="tx1"/>
                </a:solidFill>
                <a:latin typeface="Aharoni" pitchFamily="2" charset="-79"/>
                <a:cs typeface="Aharoni" pitchFamily="2" charset="-79"/>
              </a:rPr>
              <a:t>QR Codes</a:t>
            </a:r>
            <a:endParaRPr lang="en-US" dirty="0"/>
          </a:p>
        </p:txBody>
      </p:sp>
      <p:sp>
        <p:nvSpPr>
          <p:cNvPr id="10" name="Content Placeholder 2"/>
          <p:cNvSpPr txBox="1">
            <a:spLocks/>
          </p:cNvSpPr>
          <p:nvPr/>
        </p:nvSpPr>
        <p:spPr>
          <a:xfrm>
            <a:off x="457200" y="1600200"/>
            <a:ext cx="3733800" cy="48006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a:lstStyle>
          <a:p>
            <a:r>
              <a:rPr lang="en-US" dirty="0"/>
              <a:t>Error Correction</a:t>
            </a:r>
          </a:p>
          <a:p>
            <a:r>
              <a:rPr lang="en-US" dirty="0"/>
              <a:t>This allows other images to be placed into the code without any issues.</a:t>
            </a:r>
          </a:p>
          <a:p>
            <a:endParaRPr lang="en-US" dirty="0"/>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961660"/>
            <a:ext cx="4680243" cy="1981940"/>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2400" y="381000"/>
            <a:ext cx="2552700" cy="233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ight Arrow 5"/>
          <p:cNvSpPr/>
          <p:nvPr/>
        </p:nvSpPr>
        <p:spPr>
          <a:xfrm rot="5400000">
            <a:off x="6172200" y="3048000"/>
            <a:ext cx="914400" cy="533400"/>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5228" y="3856060"/>
            <a:ext cx="2476500" cy="250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7179517" y="3130034"/>
            <a:ext cx="1211165" cy="369332"/>
          </a:xfrm>
          <a:prstGeom prst="rect">
            <a:avLst/>
          </a:prstGeom>
          <a:noFill/>
        </p:spPr>
        <p:txBody>
          <a:bodyPr wrap="none" rtlCol="0">
            <a:spAutoFit/>
          </a:bodyPr>
          <a:lstStyle/>
          <a:p>
            <a:r>
              <a:rPr lang="en-US" dirty="0"/>
              <a:t>Still works!</a:t>
            </a:r>
          </a:p>
        </p:txBody>
      </p:sp>
      <p:pic>
        <p:nvPicPr>
          <p:cNvPr id="5" name="Picture 2" descr="Image result for qr cod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7109" y="4931226"/>
            <a:ext cx="1599387" cy="1599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29226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sz="4000" dirty="0"/>
              <a:t>Algorithm of QR Code (not exam)</a:t>
            </a:r>
            <a:endParaRPr lang="zh-HK" altLang="en-US" sz="4000" dirty="0"/>
          </a:p>
        </p:txBody>
      </p:sp>
      <p:sp>
        <p:nvSpPr>
          <p:cNvPr id="3" name="Content Placeholder 2"/>
          <p:cNvSpPr>
            <a:spLocks noGrp="1"/>
          </p:cNvSpPr>
          <p:nvPr>
            <p:ph idx="1"/>
          </p:nvPr>
        </p:nvSpPr>
        <p:spPr>
          <a:xfrm>
            <a:off x="457200" y="1600200"/>
            <a:ext cx="4330824" cy="4525963"/>
          </a:xfrm>
        </p:spPr>
        <p:txBody>
          <a:bodyPr/>
          <a:lstStyle/>
          <a:p>
            <a:r>
              <a:rPr lang="en-US" altLang="zh-HK" dirty="0"/>
              <a:t>http://en.wikipedia.org/wiki/QR_Code</a:t>
            </a:r>
            <a:endParaRPr lang="zh-HK" altLang="en-US" dirty="0"/>
          </a:p>
        </p:txBody>
      </p:sp>
      <p:pic>
        <p:nvPicPr>
          <p:cNvPr id="114690" name="Picture 2" descr="http://upload.wikimedia.org/wikipedia/commons/thumb/3/3b/QR_Format_Information.svg/280px-QR_Format_Information.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3621808"/>
            <a:ext cx="4505526" cy="2880320"/>
          </a:xfrm>
          <a:prstGeom prst="rect">
            <a:avLst/>
          </a:prstGeom>
          <a:noFill/>
          <a:extLst>
            <a:ext uri="{909E8E84-426E-40DD-AFC4-6F175D3DCCD1}">
              <a14:hiddenFill xmlns:a14="http://schemas.microsoft.com/office/drawing/2010/main">
                <a:solidFill>
                  <a:srgbClr val="FFFFFF"/>
                </a:solidFill>
              </a14:hiddenFill>
            </a:ext>
          </a:extLst>
        </p:spPr>
      </p:pic>
      <p:pic>
        <p:nvPicPr>
          <p:cNvPr id="114692" name="Picture 4" descr="http://upload.wikimedia.org/wikipedia/commons/thumb/2/21/QR_Character_Placement.svg/280px-QR_Character_Placement.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4077072"/>
            <a:ext cx="3822128" cy="2620888"/>
          </a:xfrm>
          <a:prstGeom prst="rect">
            <a:avLst/>
          </a:prstGeom>
          <a:noFill/>
          <a:extLst>
            <a:ext uri="{909E8E84-426E-40DD-AFC4-6F175D3DCCD1}">
              <a14:hiddenFill xmlns:a14="http://schemas.microsoft.com/office/drawing/2010/main">
                <a:solidFill>
                  <a:srgbClr val="FFFFFF"/>
                </a:solidFill>
              </a14:hiddenFill>
            </a:ext>
          </a:extLst>
        </p:spPr>
      </p:pic>
      <p:pic>
        <p:nvPicPr>
          <p:cNvPr id="114694" name="Picture 6" descr="http://upload.wikimedia.org/wikipedia/commons/thumb/7/77/QR_Ver3_Codeword_Ordering.svg/280px-QR_Ver3_Codeword_Ordering.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8808" y="1268760"/>
            <a:ext cx="4018657" cy="2569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5110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altLang="zh-TW" sz="3200">
                <a:latin typeface="Times New Roman" pitchFamily="18" charset="0"/>
              </a:rPr>
              <a:t>Create a QR Code</a:t>
            </a:r>
          </a:p>
        </p:txBody>
      </p:sp>
      <p:sp>
        <p:nvSpPr>
          <p:cNvPr id="77827" name="Rectangle 3"/>
          <p:cNvSpPr>
            <a:spLocks noGrp="1" noChangeArrowheads="1"/>
          </p:cNvSpPr>
          <p:nvPr>
            <p:ph type="body" idx="1"/>
          </p:nvPr>
        </p:nvSpPr>
        <p:spPr/>
        <p:txBody>
          <a:bodyPr/>
          <a:lstStyle/>
          <a:p>
            <a:pPr eaLnBrk="1" hangingPunct="1"/>
            <a:r>
              <a:rPr lang="en-US" altLang="zh-TW"/>
              <a:t>http://www.swetake.com/qr/qr1_en.html</a:t>
            </a:r>
          </a:p>
        </p:txBody>
      </p:sp>
      <p:pic>
        <p:nvPicPr>
          <p:cNvPr id="778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708275"/>
            <a:ext cx="4210050"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488" y="4941888"/>
            <a:ext cx="11049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45887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457200" y="274638"/>
            <a:ext cx="8229600" cy="706437"/>
          </a:xfrm>
        </p:spPr>
        <p:txBody>
          <a:bodyPr/>
          <a:lstStyle/>
          <a:p>
            <a:pPr eaLnBrk="1" hangingPunct="1"/>
            <a:r>
              <a:rPr lang="en-US" altLang="zh-TW" sz="4000" dirty="0">
                <a:latin typeface="Times New Roman" pitchFamily="18" charset="0"/>
              </a:rPr>
              <a:t>QR Code generator</a:t>
            </a:r>
          </a:p>
        </p:txBody>
      </p:sp>
      <p:sp>
        <p:nvSpPr>
          <p:cNvPr id="78851" name="Rectangle 3"/>
          <p:cNvSpPr>
            <a:spLocks noGrp="1" noChangeArrowheads="1"/>
          </p:cNvSpPr>
          <p:nvPr>
            <p:ph type="body" idx="1"/>
          </p:nvPr>
        </p:nvSpPr>
        <p:spPr>
          <a:xfrm>
            <a:off x="457200" y="1196975"/>
            <a:ext cx="8229600" cy="4525963"/>
          </a:xfrm>
        </p:spPr>
        <p:txBody>
          <a:bodyPr/>
          <a:lstStyle/>
          <a:p>
            <a:pPr eaLnBrk="1" hangingPunct="1"/>
            <a:r>
              <a:rPr lang="en-US" altLang="zh-TW"/>
              <a:t>http://qrcode.kaywa.com/</a:t>
            </a:r>
          </a:p>
        </p:txBody>
      </p:sp>
      <p:pic>
        <p:nvPicPr>
          <p:cNvPr id="788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2084388"/>
            <a:ext cx="5616575" cy="462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54021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latin typeface="Times New Roman" pitchFamily="18" charset="0"/>
              </a:rPr>
              <a:t>QR Code generator</a:t>
            </a:r>
            <a:endParaRPr lang="zh-HK" altLang="en-US" dirty="0"/>
          </a:p>
        </p:txBody>
      </p:sp>
      <p:sp>
        <p:nvSpPr>
          <p:cNvPr id="3" name="Content Placeholder 2"/>
          <p:cNvSpPr>
            <a:spLocks noGrp="1"/>
          </p:cNvSpPr>
          <p:nvPr>
            <p:ph idx="1"/>
          </p:nvPr>
        </p:nvSpPr>
        <p:spPr/>
        <p:txBody>
          <a:bodyPr/>
          <a:lstStyle/>
          <a:p>
            <a:r>
              <a:rPr lang="en-US" altLang="zh-HK" dirty="0"/>
              <a:t>http://zxing.appspot.com/generator/</a:t>
            </a:r>
            <a:endParaRPr lang="zh-HK" altLang="en-US" dirty="0"/>
          </a:p>
        </p:txBody>
      </p:sp>
      <p:pic>
        <p:nvPicPr>
          <p:cNvPr id="9830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6986" r="15593"/>
          <a:stretch/>
        </p:blipFill>
        <p:spPr bwMode="auto">
          <a:xfrm>
            <a:off x="2411760" y="2564904"/>
            <a:ext cx="6078915" cy="340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8310" name="Picture 6" descr="http://ts4.mm.bing.net/th?id=H.4695611315323859&amp;pid=1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202" y="3915700"/>
            <a:ext cx="3072662" cy="2304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2093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46088" y="2565400"/>
            <a:ext cx="8229600" cy="1143000"/>
          </a:xfrm>
        </p:spPr>
        <p:txBody>
          <a:bodyPr/>
          <a:lstStyle/>
          <a:p>
            <a:pPr eaLnBrk="1" hangingPunct="1"/>
            <a:r>
              <a:rPr lang="en-US" altLang="zh-TW" sz="4000"/>
              <a:t>What are the benefits of QR Code?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lnSpc>
                <a:spcPct val="90000"/>
              </a:lnSpc>
            </a:pPr>
            <a:r>
              <a:rPr lang="en-US" altLang="zh-TW">
                <a:latin typeface="Times New Roman" pitchFamily="18" charset="0"/>
              </a:rPr>
              <a:t>Benefits of QR Code</a:t>
            </a:r>
          </a:p>
        </p:txBody>
      </p:sp>
      <p:sp>
        <p:nvSpPr>
          <p:cNvPr id="62467" name="Rectangle 3"/>
          <p:cNvSpPr>
            <a:spLocks noGrp="1" noChangeArrowheads="1"/>
          </p:cNvSpPr>
          <p:nvPr>
            <p:ph type="body" idx="1"/>
          </p:nvPr>
        </p:nvSpPr>
        <p:spPr/>
        <p:txBody>
          <a:bodyPr/>
          <a:lstStyle/>
          <a:p>
            <a:pPr eaLnBrk="1" hangingPunct="1"/>
            <a:r>
              <a:rPr lang="en-US" altLang="zh-TW" sz="2800">
                <a:latin typeface="Times New Roman" pitchFamily="18" charset="0"/>
              </a:rPr>
              <a:t>Benefits of QR Code for:</a:t>
            </a:r>
          </a:p>
          <a:p>
            <a:pPr lvl="1" eaLnBrk="1" hangingPunct="1"/>
            <a:r>
              <a:rPr lang="en-US" altLang="zh-TW">
                <a:latin typeface="Times New Roman" pitchFamily="18" charset="0"/>
              </a:rPr>
              <a:t>consumers, </a:t>
            </a:r>
          </a:p>
          <a:p>
            <a:pPr lvl="1" eaLnBrk="1" hangingPunct="1"/>
            <a:r>
              <a:rPr lang="en-US" altLang="zh-TW">
                <a:latin typeface="Times New Roman" pitchFamily="18" charset="0"/>
              </a:rPr>
              <a:t>marketing, </a:t>
            </a:r>
          </a:p>
          <a:p>
            <a:pPr lvl="1" eaLnBrk="1" hangingPunct="1"/>
            <a:r>
              <a:rPr lang="en-US" altLang="zh-TW">
                <a:latin typeface="Times New Roman" pitchFamily="18" charset="0"/>
              </a:rPr>
              <a:t>mobile industries</a:t>
            </a:r>
          </a:p>
          <a:p>
            <a:pPr lvl="1" eaLnBrk="1" hangingPunct="1"/>
            <a:r>
              <a:rPr lang="en-US" altLang="zh-TW">
                <a:latin typeface="Times New Roman" pitchFamily="18" charset="0"/>
              </a:rPr>
              <a:t>Wireless Operators</a:t>
            </a:r>
          </a:p>
          <a:p>
            <a:pPr lvl="1" eaLnBrk="1" hangingPunct="1"/>
            <a:r>
              <a:rPr lang="en-US" altLang="zh-TW">
                <a:latin typeface="Times New Roman" pitchFamily="18" charset="0"/>
              </a:rPr>
              <a:t>Handset Manufacturers</a:t>
            </a:r>
          </a:p>
          <a:p>
            <a:pPr lvl="1" eaLnBrk="1" hangingPunct="1"/>
            <a:r>
              <a:rPr lang="en-US" altLang="zh-TW">
                <a:latin typeface="Times New Roman" pitchFamily="18" charset="0"/>
              </a:rPr>
              <a:t>Application and Service Providers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zh-TW">
                <a:latin typeface="Times New Roman" pitchFamily="18" charset="0"/>
              </a:rPr>
              <a:t>Benefits to Consumers</a:t>
            </a:r>
          </a:p>
        </p:txBody>
      </p:sp>
      <p:sp>
        <p:nvSpPr>
          <p:cNvPr id="63491" name="Rectangle 3"/>
          <p:cNvSpPr>
            <a:spLocks noGrp="1" noChangeArrowheads="1"/>
          </p:cNvSpPr>
          <p:nvPr>
            <p:ph type="body" idx="1"/>
          </p:nvPr>
        </p:nvSpPr>
        <p:spPr/>
        <p:txBody>
          <a:bodyPr/>
          <a:lstStyle/>
          <a:p>
            <a:pPr eaLnBrk="1" hangingPunct="1">
              <a:lnSpc>
                <a:spcPct val="80000"/>
              </a:lnSpc>
            </a:pPr>
            <a:r>
              <a:rPr lang="en-US" altLang="zh-TW" sz="2400">
                <a:latin typeface="Times New Roman" pitchFamily="18" charset="0"/>
              </a:rPr>
              <a:t>Reading a mobile code is faster and more convenient </a:t>
            </a:r>
          </a:p>
          <a:p>
            <a:pPr lvl="1" eaLnBrk="1" hangingPunct="1">
              <a:lnSpc>
                <a:spcPct val="80000"/>
              </a:lnSpc>
            </a:pPr>
            <a:r>
              <a:rPr lang="en-US" altLang="zh-TW" sz="2000">
                <a:latin typeface="Times New Roman" pitchFamily="18" charset="0"/>
              </a:rPr>
              <a:t>than transcribing data such as URLs, telephone numbers and SMS messages into handsets. </a:t>
            </a:r>
          </a:p>
          <a:p>
            <a:pPr lvl="1" eaLnBrk="1" hangingPunct="1">
              <a:lnSpc>
                <a:spcPct val="80000"/>
              </a:lnSpc>
            </a:pPr>
            <a:endParaRPr lang="en-US" altLang="zh-TW" sz="2000">
              <a:latin typeface="Times New Roman" pitchFamily="18" charset="0"/>
            </a:endParaRPr>
          </a:p>
          <a:p>
            <a:pPr eaLnBrk="1" hangingPunct="1">
              <a:lnSpc>
                <a:spcPct val="80000"/>
              </a:lnSpc>
            </a:pPr>
            <a:r>
              <a:rPr lang="en-US" altLang="zh-TW" sz="2400">
                <a:latin typeface="Times New Roman" pitchFamily="18" charset="0"/>
              </a:rPr>
              <a:t>Less error-prone</a:t>
            </a:r>
          </a:p>
          <a:p>
            <a:pPr lvl="1" eaLnBrk="1" hangingPunct="1">
              <a:lnSpc>
                <a:spcPct val="80000"/>
              </a:lnSpc>
            </a:pPr>
            <a:r>
              <a:rPr lang="en-US" altLang="zh-TW" sz="2000">
                <a:latin typeface="Times New Roman" pitchFamily="18" charset="0"/>
                <a:sym typeface="Wingdings" pitchFamily="2" charset="2"/>
              </a:rPr>
              <a:t> </a:t>
            </a:r>
            <a:r>
              <a:rPr lang="en-US" altLang="zh-TW" sz="2000">
                <a:latin typeface="Times New Roman" pitchFamily="18" charset="0"/>
              </a:rPr>
              <a:t>error correction in the codes guarantees against entering incorrect data.</a:t>
            </a:r>
          </a:p>
          <a:p>
            <a:pPr lvl="1" eaLnBrk="1" hangingPunct="1">
              <a:lnSpc>
                <a:spcPct val="80000"/>
              </a:lnSpc>
            </a:pPr>
            <a:endParaRPr lang="en-US" altLang="zh-TW" sz="2000">
              <a:latin typeface="Times New Roman" pitchFamily="18" charset="0"/>
            </a:endParaRPr>
          </a:p>
          <a:p>
            <a:pPr eaLnBrk="1" hangingPunct="1">
              <a:lnSpc>
                <a:spcPct val="80000"/>
              </a:lnSpc>
            </a:pPr>
            <a:r>
              <a:rPr lang="en-US" altLang="zh-TW" sz="2400">
                <a:latin typeface="Times New Roman" pitchFamily="18" charset="0"/>
              </a:rPr>
              <a:t>No need to navigate to the appropriate application on their handset</a:t>
            </a:r>
          </a:p>
          <a:p>
            <a:pPr lvl="1" eaLnBrk="1" hangingPunct="1">
              <a:lnSpc>
                <a:spcPct val="80000"/>
              </a:lnSpc>
            </a:pPr>
            <a:r>
              <a:rPr lang="en-US" altLang="zh-TW" sz="2000">
                <a:latin typeface="Times New Roman" pitchFamily="18" charset="0"/>
              </a:rPr>
              <a:t>It is implicit in the type of data in the code. \</a:t>
            </a:r>
          </a:p>
          <a:p>
            <a:pPr lvl="1" eaLnBrk="1" hangingPunct="1">
              <a:lnSpc>
                <a:spcPct val="80000"/>
              </a:lnSpc>
            </a:pPr>
            <a:endParaRPr lang="en-US" altLang="zh-TW" sz="2000">
              <a:latin typeface="Times New Roman" pitchFamily="18" charset="0"/>
            </a:endParaRPr>
          </a:p>
          <a:p>
            <a:pPr eaLnBrk="1" hangingPunct="1">
              <a:lnSpc>
                <a:spcPct val="80000"/>
              </a:lnSpc>
            </a:pPr>
            <a:r>
              <a:rPr lang="en-US" altLang="zh-TW" sz="2400">
                <a:latin typeface="Times New Roman" pitchFamily="18" charset="0"/>
              </a:rPr>
              <a:t>Especially helpful with respect to web browsers</a:t>
            </a:r>
          </a:p>
          <a:p>
            <a:pPr lvl="1" eaLnBrk="1" hangingPunct="1">
              <a:lnSpc>
                <a:spcPct val="80000"/>
              </a:lnSpc>
            </a:pPr>
            <a:r>
              <a:rPr lang="en-US" altLang="zh-TW" sz="2000">
                <a:latin typeface="Times New Roman" pitchFamily="18" charset="0"/>
              </a:rPr>
              <a:t>users find difficult to locate and operate on their handsets.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altLang="zh-TW">
                <a:latin typeface="Times New Roman" pitchFamily="18" charset="0"/>
              </a:rPr>
              <a:t>Benefits to Marketer</a:t>
            </a:r>
          </a:p>
        </p:txBody>
      </p:sp>
      <p:sp>
        <p:nvSpPr>
          <p:cNvPr id="64515" name="Rectangle 3"/>
          <p:cNvSpPr>
            <a:spLocks noGrp="1" noChangeArrowheads="1"/>
          </p:cNvSpPr>
          <p:nvPr>
            <p:ph type="body" idx="1"/>
          </p:nvPr>
        </p:nvSpPr>
        <p:spPr>
          <a:xfrm>
            <a:off x="457200" y="1600200"/>
            <a:ext cx="4691063" cy="4525963"/>
          </a:xfrm>
        </p:spPr>
        <p:txBody>
          <a:bodyPr/>
          <a:lstStyle/>
          <a:p>
            <a:pPr eaLnBrk="1" hangingPunct="1"/>
            <a:r>
              <a:rPr lang="en-US" altLang="zh-TW" sz="2400">
                <a:latin typeface="Times New Roman" pitchFamily="18" charset="0"/>
              </a:rPr>
              <a:t>Encourage users to participate in promotional campaigns</a:t>
            </a:r>
          </a:p>
          <a:p>
            <a:pPr lvl="1" eaLnBrk="1" hangingPunct="1"/>
            <a:r>
              <a:rPr lang="en-US" altLang="zh-TW" sz="2000">
                <a:latin typeface="Times New Roman" pitchFamily="18" charset="0"/>
              </a:rPr>
              <a:t>compared to manual transcription of URLs etc., mobile codes increase response rates.</a:t>
            </a:r>
          </a:p>
          <a:p>
            <a:pPr eaLnBrk="1" hangingPunct="1"/>
            <a:r>
              <a:rPr lang="en-US" altLang="zh-TW" sz="2400">
                <a:latin typeface="Times New Roman" pitchFamily="18" charset="0"/>
              </a:rPr>
              <a:t>Enable print advertising </a:t>
            </a:r>
          </a:p>
          <a:p>
            <a:pPr lvl="1" eaLnBrk="1" hangingPunct="1"/>
            <a:r>
              <a:rPr lang="en-US" altLang="zh-TW" sz="2000">
                <a:latin typeface="Times New Roman" pitchFamily="18" charset="0"/>
              </a:rPr>
              <a:t>QR code can be placed in media formats, markets and physical locations, marketers can measure which placements were more effective than others.</a:t>
            </a:r>
          </a:p>
        </p:txBody>
      </p:sp>
      <p:pic>
        <p:nvPicPr>
          <p:cNvPr id="645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9788" y="2420938"/>
            <a:ext cx="2973387"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altLang="zh-TW" sz="3200">
                <a:latin typeface="Times New Roman" pitchFamily="18" charset="0"/>
              </a:rPr>
              <a:t>Benefits  to Wireless Operators </a:t>
            </a:r>
          </a:p>
        </p:txBody>
      </p:sp>
      <p:sp>
        <p:nvSpPr>
          <p:cNvPr id="65539" name="Rectangle 3"/>
          <p:cNvSpPr>
            <a:spLocks noGrp="1" noChangeArrowheads="1"/>
          </p:cNvSpPr>
          <p:nvPr>
            <p:ph type="body" idx="1"/>
          </p:nvPr>
        </p:nvSpPr>
        <p:spPr>
          <a:xfrm>
            <a:off x="179388" y="1268413"/>
            <a:ext cx="8569325" cy="4525962"/>
          </a:xfrm>
        </p:spPr>
        <p:txBody>
          <a:bodyPr/>
          <a:lstStyle/>
          <a:p>
            <a:pPr eaLnBrk="1" hangingPunct="1"/>
            <a:r>
              <a:rPr lang="en-US" altLang="zh-TW" sz="2000">
                <a:latin typeface="Times New Roman" pitchFamily="18" charset="0"/>
              </a:rPr>
              <a:t>In the past, SMS did not scale in usability, mainly ringtone downloads only</a:t>
            </a:r>
          </a:p>
          <a:p>
            <a:pPr eaLnBrk="1" hangingPunct="1"/>
            <a:r>
              <a:rPr lang="en-US" altLang="zh-TW" sz="2000">
                <a:latin typeface="Times New Roman" pitchFamily="18" charset="0"/>
              </a:rPr>
              <a:t>QR codes promote mobile internet as more connections are made direct from advertisement to web. </a:t>
            </a:r>
          </a:p>
          <a:p>
            <a:pPr eaLnBrk="1" hangingPunct="1"/>
            <a:r>
              <a:rPr lang="en-US" altLang="zh-TW" sz="2000">
                <a:latin typeface="Times New Roman" pitchFamily="18" charset="0"/>
              </a:rPr>
              <a:t>Increase operator’s ARPUs (Average Revenue Per User) through more and more rewarding internet connections. </a:t>
            </a:r>
          </a:p>
        </p:txBody>
      </p:sp>
      <p:pic>
        <p:nvPicPr>
          <p:cNvPr id="6554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573463"/>
            <a:ext cx="465772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500" y="2852738"/>
            <a:ext cx="3222625" cy="322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Text Box 8"/>
          <p:cNvSpPr txBox="1">
            <a:spLocks noChangeArrowheads="1"/>
          </p:cNvSpPr>
          <p:nvPr/>
        </p:nvSpPr>
        <p:spPr bwMode="auto">
          <a:xfrm>
            <a:off x="395288" y="6165850"/>
            <a:ext cx="78025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b="1">
                <a:solidFill>
                  <a:schemeClr val="tx1"/>
                </a:solidFill>
                <a:latin typeface="Arial" charset="0"/>
                <a:ea typeface="新細明體" charset="-120"/>
              </a:defRPr>
            </a:lvl1pPr>
            <a:lvl2pPr marL="742950" indent="-285750" eaLnBrk="0" hangingPunct="0">
              <a:defRPr kumimoji="1" sz="1400" b="1">
                <a:solidFill>
                  <a:schemeClr val="tx1"/>
                </a:solidFill>
                <a:latin typeface="Arial" charset="0"/>
                <a:ea typeface="新細明體" charset="-120"/>
              </a:defRPr>
            </a:lvl2pPr>
            <a:lvl3pPr marL="1143000" indent="-228600" eaLnBrk="0" hangingPunct="0">
              <a:defRPr kumimoji="1" sz="1400" b="1">
                <a:solidFill>
                  <a:schemeClr val="tx1"/>
                </a:solidFill>
                <a:latin typeface="Arial" charset="0"/>
                <a:ea typeface="新細明體" charset="-120"/>
              </a:defRPr>
            </a:lvl3pPr>
            <a:lvl4pPr marL="1600200" indent="-228600" eaLnBrk="0" hangingPunct="0">
              <a:defRPr kumimoji="1" sz="1400" b="1">
                <a:solidFill>
                  <a:schemeClr val="tx1"/>
                </a:solidFill>
                <a:latin typeface="Arial" charset="0"/>
                <a:ea typeface="新細明體" charset="-120"/>
              </a:defRPr>
            </a:lvl4pPr>
            <a:lvl5pPr marL="2057400" indent="-228600" eaLnBrk="0" hangingPunct="0">
              <a:defRPr kumimoji="1" sz="1400" b="1">
                <a:solidFill>
                  <a:schemeClr val="tx1"/>
                </a:solidFill>
                <a:latin typeface="Arial" charset="0"/>
                <a:ea typeface="新細明體" charset="-120"/>
              </a:defRPr>
            </a:lvl5pPr>
            <a:lvl6pPr marL="2514600" indent="-228600" eaLnBrk="0" fontAlgn="base" hangingPunct="0">
              <a:spcBef>
                <a:spcPct val="0"/>
              </a:spcBef>
              <a:spcAft>
                <a:spcPct val="0"/>
              </a:spcAft>
              <a:defRPr kumimoji="1" sz="1400" b="1">
                <a:solidFill>
                  <a:schemeClr val="tx1"/>
                </a:solidFill>
                <a:latin typeface="Arial" charset="0"/>
                <a:ea typeface="新細明體" charset="-120"/>
              </a:defRPr>
            </a:lvl6pPr>
            <a:lvl7pPr marL="2971800" indent="-228600" eaLnBrk="0" fontAlgn="base" hangingPunct="0">
              <a:spcBef>
                <a:spcPct val="0"/>
              </a:spcBef>
              <a:spcAft>
                <a:spcPct val="0"/>
              </a:spcAft>
              <a:defRPr kumimoji="1" sz="1400" b="1">
                <a:solidFill>
                  <a:schemeClr val="tx1"/>
                </a:solidFill>
                <a:latin typeface="Arial" charset="0"/>
                <a:ea typeface="新細明體" charset="-120"/>
              </a:defRPr>
            </a:lvl7pPr>
            <a:lvl8pPr marL="3429000" indent="-228600" eaLnBrk="0" fontAlgn="base" hangingPunct="0">
              <a:spcBef>
                <a:spcPct val="0"/>
              </a:spcBef>
              <a:spcAft>
                <a:spcPct val="0"/>
              </a:spcAft>
              <a:defRPr kumimoji="1" sz="1400" b="1">
                <a:solidFill>
                  <a:schemeClr val="tx1"/>
                </a:solidFill>
                <a:latin typeface="Arial" charset="0"/>
                <a:ea typeface="新細明體" charset="-120"/>
              </a:defRPr>
            </a:lvl8pPr>
            <a:lvl9pPr marL="3886200" indent="-228600" eaLnBrk="0" fontAlgn="base" hangingPunct="0">
              <a:spcBef>
                <a:spcPct val="0"/>
              </a:spcBef>
              <a:spcAft>
                <a:spcPct val="0"/>
              </a:spcAft>
              <a:defRPr kumimoji="1" sz="1400" b="1">
                <a:solidFill>
                  <a:schemeClr val="tx1"/>
                </a:solidFill>
                <a:latin typeface="Arial" charset="0"/>
                <a:ea typeface="新細明體" charset="-120"/>
              </a:defRPr>
            </a:lvl9pPr>
          </a:lstStyle>
          <a:p>
            <a:pPr eaLnBrk="1" hangingPunct="1"/>
            <a:r>
              <a:rPr lang="en-US" altLang="zh-TW"/>
              <a:t>ARUP of Orange Source:</a:t>
            </a:r>
          </a:p>
          <a:p>
            <a:pPr eaLnBrk="1" hangingPunct="1"/>
            <a:r>
              <a:rPr lang="en-US" altLang="zh-TW"/>
              <a:t>http://wiki.mbalib.com/w/index.php?title=Orange%E5%85%AC%E5%8F%B8&amp;variant=zh-tw</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zh-TW" sz="3200">
                <a:latin typeface="Times New Roman" pitchFamily="18" charset="0"/>
              </a:rPr>
              <a:t>Benefits  to Wireless Operators</a:t>
            </a:r>
          </a:p>
        </p:txBody>
      </p:sp>
      <p:sp>
        <p:nvSpPr>
          <p:cNvPr id="66563" name="Rectangle 3"/>
          <p:cNvSpPr>
            <a:spLocks noGrp="1" noChangeArrowheads="1"/>
          </p:cNvSpPr>
          <p:nvPr>
            <p:ph type="body" idx="1"/>
          </p:nvPr>
        </p:nvSpPr>
        <p:spPr>
          <a:xfrm>
            <a:off x="250825" y="1628775"/>
            <a:ext cx="2890838" cy="3878263"/>
          </a:xfrm>
        </p:spPr>
        <p:txBody>
          <a:bodyPr/>
          <a:lstStyle/>
          <a:p>
            <a:pPr eaLnBrk="1" hangingPunct="1"/>
            <a:r>
              <a:rPr lang="en-US" altLang="zh-TW" sz="2400">
                <a:latin typeface="Times New Roman" pitchFamily="18" charset="0"/>
              </a:rPr>
              <a:t>ARUP and ratio of Data Service</a:t>
            </a:r>
          </a:p>
        </p:txBody>
      </p:sp>
      <p:pic>
        <p:nvPicPr>
          <p:cNvPr id="665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1282700"/>
            <a:ext cx="5759450" cy="535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ltLang="zh-TW" sz="3200">
                <a:latin typeface="Times New Roman" pitchFamily="18" charset="0"/>
              </a:rPr>
              <a:t>Benefits  to Wireless Operators</a:t>
            </a:r>
          </a:p>
        </p:txBody>
      </p:sp>
      <p:sp>
        <p:nvSpPr>
          <p:cNvPr id="67587" name="Rectangle 3"/>
          <p:cNvSpPr>
            <a:spLocks noGrp="1" noChangeArrowheads="1"/>
          </p:cNvSpPr>
          <p:nvPr>
            <p:ph type="body" idx="1"/>
          </p:nvPr>
        </p:nvSpPr>
        <p:spPr>
          <a:xfrm>
            <a:off x="457200" y="1239838"/>
            <a:ext cx="8147050" cy="2549525"/>
          </a:xfrm>
        </p:spPr>
        <p:txBody>
          <a:bodyPr/>
          <a:lstStyle/>
          <a:p>
            <a:pPr eaLnBrk="1" hangingPunct="1"/>
            <a:r>
              <a:rPr lang="en-US" altLang="zh-TW">
                <a:latin typeface="Times New Roman" pitchFamily="18" charset="0"/>
              </a:rPr>
              <a:t>Operators can help drive the reach and scale of the mobile code scanning opportunities by ensuring that scanning clients and applications are pre-installed in the mobile devices.</a:t>
            </a:r>
          </a:p>
        </p:txBody>
      </p:sp>
      <p:pic>
        <p:nvPicPr>
          <p:cNvPr id="67588"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4005263"/>
            <a:ext cx="3025775"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TW" sz="3200">
                <a:latin typeface="Times New Roman" pitchFamily="18" charset="0"/>
              </a:rPr>
              <a:t>Benefits  to Wireless Operators</a:t>
            </a:r>
          </a:p>
        </p:txBody>
      </p:sp>
      <p:sp>
        <p:nvSpPr>
          <p:cNvPr id="68611" name="Rectangle 3"/>
          <p:cNvSpPr>
            <a:spLocks noGrp="1" noChangeArrowheads="1"/>
          </p:cNvSpPr>
          <p:nvPr>
            <p:ph type="body" idx="1"/>
          </p:nvPr>
        </p:nvSpPr>
        <p:spPr>
          <a:xfrm>
            <a:off x="158750" y="1341438"/>
            <a:ext cx="8985250" cy="3527425"/>
          </a:xfrm>
        </p:spPr>
        <p:txBody>
          <a:bodyPr/>
          <a:lstStyle/>
          <a:p>
            <a:pPr eaLnBrk="1" hangingPunct="1"/>
            <a:r>
              <a:rPr lang="en-US" altLang="zh-TW" sz="2400">
                <a:latin typeface="Times New Roman" pitchFamily="18" charset="0"/>
              </a:rPr>
              <a:t>Operators may be able to associate such user inquiries with the user’s preferences based on his/her subscription profile</a:t>
            </a:r>
          </a:p>
          <a:p>
            <a:pPr eaLnBrk="1" hangingPunct="1"/>
            <a:r>
              <a:rPr lang="en-US" altLang="zh-TW" sz="2400">
                <a:latin typeface="Times New Roman" pitchFamily="18" charset="0"/>
              </a:rPr>
              <a:t>Selling customer profiles to advertisers creates a new stream of revenue. </a:t>
            </a:r>
          </a:p>
          <a:p>
            <a:pPr eaLnBrk="1" hangingPunct="1"/>
            <a:r>
              <a:rPr lang="en-US" altLang="zh-TW" sz="2400">
                <a:latin typeface="Times New Roman" pitchFamily="18" charset="0"/>
              </a:rPr>
              <a:t>Target marketing with deeper profile data of prospective customers.</a:t>
            </a:r>
          </a:p>
          <a:p>
            <a:pPr eaLnBrk="1" hangingPunct="1"/>
            <a:r>
              <a:rPr lang="en-US" altLang="zh-TW" sz="2400">
                <a:latin typeface="Times New Roman" pitchFamily="18" charset="0"/>
              </a:rPr>
              <a:t>Privacy concerns need to be considered as applicable.</a:t>
            </a:r>
          </a:p>
          <a:p>
            <a:pPr eaLnBrk="1" hangingPunct="1"/>
            <a:endParaRPr lang="en-US" altLang="zh-TW" sz="2400">
              <a:latin typeface="Times New Roman" pitchFamily="18" charset="0"/>
            </a:endParaRPr>
          </a:p>
        </p:txBody>
      </p:sp>
      <p:pic>
        <p:nvPicPr>
          <p:cNvPr id="686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111625"/>
            <a:ext cx="327660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altLang="zh-TW" sz="4800">
                <a:latin typeface="Times New Roman" pitchFamily="18" charset="0"/>
              </a:rPr>
              <a:t>Handset Manufacturers</a:t>
            </a:r>
          </a:p>
        </p:txBody>
      </p:sp>
      <p:sp>
        <p:nvSpPr>
          <p:cNvPr id="69635" name="Rectangle 3"/>
          <p:cNvSpPr>
            <a:spLocks noGrp="1" noChangeArrowheads="1"/>
          </p:cNvSpPr>
          <p:nvPr>
            <p:ph type="body" idx="1"/>
          </p:nvPr>
        </p:nvSpPr>
        <p:spPr/>
        <p:txBody>
          <a:bodyPr/>
          <a:lstStyle/>
          <a:p>
            <a:pPr eaLnBrk="1" hangingPunct="1">
              <a:lnSpc>
                <a:spcPct val="80000"/>
              </a:lnSpc>
            </a:pPr>
            <a:r>
              <a:rPr lang="en-US" altLang="zh-TW">
                <a:latin typeface="Times New Roman" pitchFamily="18" charset="0"/>
              </a:rPr>
              <a:t>Feedback from mobile code adoption in Japan suggests that, once established in the market, mobile code readers become a “must have”. </a:t>
            </a:r>
          </a:p>
          <a:p>
            <a:pPr eaLnBrk="1" hangingPunct="1">
              <a:lnSpc>
                <a:spcPct val="80000"/>
              </a:lnSpc>
            </a:pPr>
            <a:r>
              <a:rPr lang="en-US" altLang="zh-TW">
                <a:latin typeface="Times New Roman" pitchFamily="18" charset="0"/>
              </a:rPr>
              <a:t>Handset companies will want to provide a compelling reason to upgrade to their mobile code-enabled terminals.</a:t>
            </a:r>
          </a:p>
        </p:txBody>
      </p:sp>
      <p:pic>
        <p:nvPicPr>
          <p:cNvPr id="696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4149725"/>
            <a:ext cx="3025775"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4292600"/>
            <a:ext cx="3527425"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altLang="zh-TW">
                <a:latin typeface="Times New Roman" pitchFamily="18" charset="0"/>
              </a:rPr>
              <a:t>Application and Service Providers</a:t>
            </a:r>
          </a:p>
        </p:txBody>
      </p:sp>
      <p:sp>
        <p:nvSpPr>
          <p:cNvPr id="70659" name="Rectangle 3"/>
          <p:cNvSpPr>
            <a:spLocks noGrp="1" noChangeArrowheads="1"/>
          </p:cNvSpPr>
          <p:nvPr>
            <p:ph type="body" idx="1"/>
          </p:nvPr>
        </p:nvSpPr>
        <p:spPr>
          <a:xfrm>
            <a:off x="457200" y="1341438"/>
            <a:ext cx="8435975" cy="4525962"/>
          </a:xfrm>
        </p:spPr>
        <p:txBody>
          <a:bodyPr/>
          <a:lstStyle/>
          <a:p>
            <a:pPr eaLnBrk="1" hangingPunct="1">
              <a:lnSpc>
                <a:spcPct val="80000"/>
              </a:lnSpc>
            </a:pPr>
            <a:r>
              <a:rPr lang="en-US" altLang="zh-TW" sz="2400">
                <a:latin typeface="Times New Roman" pitchFamily="18" charset="0"/>
              </a:rPr>
              <a:t>Provides the new internet experience, impact on mobile content and service provision. </a:t>
            </a:r>
          </a:p>
          <a:p>
            <a:pPr eaLnBrk="1" hangingPunct="1">
              <a:lnSpc>
                <a:spcPct val="80000"/>
              </a:lnSpc>
            </a:pPr>
            <a:r>
              <a:rPr lang="en-US" altLang="zh-TW" sz="2400">
                <a:latin typeface="Times New Roman" pitchFamily="18" charset="0"/>
              </a:rPr>
              <a:t>Innovate new user interaction with mobile codes, and in new mobile code support services. </a:t>
            </a:r>
          </a:p>
          <a:p>
            <a:pPr eaLnBrk="1" hangingPunct="1">
              <a:lnSpc>
                <a:spcPct val="80000"/>
              </a:lnSpc>
            </a:pPr>
            <a:r>
              <a:rPr lang="en-US" altLang="zh-TW" sz="2400">
                <a:latin typeface="Times New Roman" pitchFamily="18" charset="0"/>
              </a:rPr>
              <a:t>Both application and service sectors have the opportunity for significant growth, perhaps enabling different actors in the value chain</a:t>
            </a:r>
          </a:p>
        </p:txBody>
      </p:sp>
      <p:pic>
        <p:nvPicPr>
          <p:cNvPr id="7066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400" y="3789363"/>
            <a:ext cx="4995863" cy="286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altLang="zh-TW" b="1">
                <a:latin typeface="Times New Roman" pitchFamily="18" charset="0"/>
              </a:rPr>
              <a:t>References</a:t>
            </a:r>
          </a:p>
        </p:txBody>
      </p:sp>
      <p:sp>
        <p:nvSpPr>
          <p:cNvPr id="80899" name="Rectangle 3"/>
          <p:cNvSpPr>
            <a:spLocks noGrp="1" noChangeArrowheads="1"/>
          </p:cNvSpPr>
          <p:nvPr>
            <p:ph type="body" idx="1"/>
          </p:nvPr>
        </p:nvSpPr>
        <p:spPr/>
        <p:txBody>
          <a:bodyPr/>
          <a:lstStyle/>
          <a:p>
            <a:pPr eaLnBrk="1" hangingPunct="1">
              <a:lnSpc>
                <a:spcPct val="90000"/>
              </a:lnSpc>
            </a:pPr>
            <a:r>
              <a:rPr lang="en-US" altLang="zh-HK" sz="1600" dirty="0"/>
              <a:t>http://en.wikipedia.org/wiki/QR_Code</a:t>
            </a:r>
            <a:endParaRPr lang="zh-HK" altLang="en-US" sz="1600" dirty="0"/>
          </a:p>
          <a:p>
            <a:pPr eaLnBrk="1" hangingPunct="1">
              <a:lnSpc>
                <a:spcPct val="90000"/>
              </a:lnSpc>
            </a:pPr>
            <a:r>
              <a:rPr lang="en-US" altLang="zh-TW" sz="1600" dirty="0">
                <a:latin typeface="Times New Roman" pitchFamily="18" charset="0"/>
              </a:rPr>
              <a:t>Open Mobile Alliance - White Paper on Mobile Codes</a:t>
            </a:r>
          </a:p>
          <a:p>
            <a:pPr lvl="2" eaLnBrk="1" hangingPunct="1">
              <a:lnSpc>
                <a:spcPct val="90000"/>
              </a:lnSpc>
            </a:pPr>
            <a:r>
              <a:rPr lang="en-US" altLang="zh-TW" sz="1600" dirty="0">
                <a:latin typeface="Times New Roman" pitchFamily="18" charset="0"/>
                <a:hlinkClick r:id="rId2"/>
              </a:rPr>
              <a:t>http://www.openmobilealliance.org/Technical/release_program/docs/MobileCodes/V1_0-20081024-A/OMA-WP-MobileCodes-20081024-A.pdf</a:t>
            </a:r>
            <a:endParaRPr lang="en-US" altLang="zh-TW" sz="1600" dirty="0">
              <a:latin typeface="Times New Roman" pitchFamily="18" charset="0"/>
            </a:endParaRPr>
          </a:p>
          <a:p>
            <a:r>
              <a:rPr lang="en-US" altLang="zh-HK" sz="1600" dirty="0"/>
              <a:t>UID Solutions - UID Products and Services for US Military Contractors and DoD. </a:t>
            </a:r>
            <a:r>
              <a:rPr lang="en-US" altLang="zh-HK" sz="1600" i="1" dirty="0"/>
              <a:t>Barcode History Timeline. </a:t>
            </a:r>
            <a:r>
              <a:rPr lang="en-US" altLang="zh-HK" sz="1600" dirty="0"/>
              <a:t>Retrieved from </a:t>
            </a:r>
            <a:r>
              <a:rPr lang="en-US" altLang="zh-HK" sz="1600" dirty="0">
                <a:hlinkClick r:id="rId3"/>
              </a:rPr>
              <a:t>http://www.uidsolutions.com/barcodetimeline.html</a:t>
            </a:r>
            <a:endParaRPr lang="en-US" altLang="zh-HK" sz="1600" dirty="0"/>
          </a:p>
          <a:p>
            <a:r>
              <a:rPr lang="en-US" altLang="zh-HK" sz="1600" dirty="0" err="1"/>
              <a:t>Qr</a:t>
            </a:r>
            <a:r>
              <a:rPr lang="en-US" altLang="zh-HK" sz="1600" dirty="0"/>
              <a:t> readers. (</a:t>
            </a:r>
            <a:r>
              <a:rPr lang="en-US" altLang="zh-HK" sz="1600" dirty="0" err="1"/>
              <a:t>n.d.</a:t>
            </a:r>
            <a:r>
              <a:rPr lang="en-US" altLang="zh-HK" sz="1600" dirty="0"/>
              <a:t>). </a:t>
            </a:r>
            <a:r>
              <a:rPr lang="en-US" altLang="zh-HK" sz="1600" i="1" dirty="0"/>
              <a:t>Barcode Technology Timeline.</a:t>
            </a:r>
            <a:r>
              <a:rPr lang="en-US" altLang="zh-HK" sz="1600" dirty="0"/>
              <a:t> Retrieved from </a:t>
            </a:r>
            <a:r>
              <a:rPr lang="en-US" altLang="zh-HK" sz="1600" dirty="0">
                <a:hlinkClick r:id="rId4"/>
              </a:rPr>
              <a:t>http://www.qrreaders.net/articles/barcode-technology-timeline.html</a:t>
            </a:r>
            <a:endParaRPr lang="en-US" altLang="zh-HK" sz="1600" dirty="0"/>
          </a:p>
          <a:p>
            <a:r>
              <a:rPr lang="en-US" altLang="zh-HK" sz="1600" b="1" i="1" dirty="0"/>
              <a:t>What Is A QR Code And How Does It Work?</a:t>
            </a:r>
            <a:r>
              <a:rPr lang="en-US" altLang="zh-HK" sz="1600" dirty="0"/>
              <a:t>. http://www.youthedesigner.com/2011/09/29/what-is-a-qr-code-and-how-does-it-work/. </a:t>
            </a:r>
          </a:p>
          <a:p>
            <a:r>
              <a:rPr lang="en-US" altLang="zh-HK" sz="1600" b="1" i="1" dirty="0"/>
              <a:t>How Barcode Scanners Work</a:t>
            </a:r>
            <a:r>
              <a:rPr lang="en-US" altLang="zh-HK" sz="1600" dirty="0"/>
              <a:t>. http://www.carolinabarcode.com/how-barcode-scanners-work-a-69.html.</a:t>
            </a:r>
          </a:p>
          <a:p>
            <a:r>
              <a:rPr lang="en-US" altLang="zh-HK" sz="1600" b="1" i="1" dirty="0"/>
              <a:t>Information technology — Automatic identification and data capture techniques — Bar code </a:t>
            </a:r>
            <a:r>
              <a:rPr lang="en-US" altLang="zh-HK" sz="1600" b="1" i="1" dirty="0" err="1"/>
              <a:t>symbology</a:t>
            </a:r>
            <a:r>
              <a:rPr lang="en-US" altLang="zh-HK" sz="1600" b="1" i="1" dirty="0"/>
              <a:t> — QR Code</a:t>
            </a:r>
            <a:r>
              <a:rPr lang="en-US" altLang="zh-HK" sz="1600" dirty="0"/>
              <a:t>. http://raidenii.net/files/datasheets/misc/qr_code.pdf.</a:t>
            </a:r>
          </a:p>
          <a:p>
            <a:pPr eaLnBrk="1" hangingPunct="1">
              <a:lnSpc>
                <a:spcPct val="90000"/>
              </a:lnSpc>
            </a:pPr>
            <a:endParaRPr lang="en-US" altLang="zh-TW" sz="1600" dirty="0">
              <a:latin typeface="Times New Roman" pitchFamily="18" charset="0"/>
            </a:endParaRPr>
          </a:p>
          <a:p>
            <a:pPr eaLnBrk="1" hangingPunct="1">
              <a:lnSpc>
                <a:spcPct val="80000"/>
              </a:lnSpc>
            </a:pPr>
            <a:endParaRPr lang="en-US" altLang="zh-TW" sz="1600" dirty="0">
              <a:latin typeface="Times New Roman" pitchFamily="18" charset="0"/>
            </a:endParaRPr>
          </a:p>
        </p:txBody>
      </p:sp>
    </p:spTree>
  </p:cSld>
  <p:clrMapOvr>
    <a:masterClrMapping/>
  </p:clrMapOvr>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TotalTime>
  <Words>2925</Words>
  <Application>Microsoft Office PowerPoint</Application>
  <PresentationFormat>On-screen Show (4:3)</PresentationFormat>
  <Paragraphs>379</Paragraphs>
  <Slides>68</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4" baseType="lpstr">
      <vt:lpstr>Aharoni</vt:lpstr>
      <vt:lpstr>Arial</vt:lpstr>
      <vt:lpstr>Times New Roman</vt:lpstr>
      <vt:lpstr>Wingdings</vt:lpstr>
      <vt:lpstr>預設簡報設計</vt:lpstr>
      <vt:lpstr>Picture</vt:lpstr>
      <vt:lpstr>ELEC6098 Electronic Commerce &amp; Mobile Commerce</vt:lpstr>
      <vt:lpstr>Enabling Technology: Location Base Service</vt:lpstr>
      <vt:lpstr>Enabling Technology: Location Base Service</vt:lpstr>
      <vt:lpstr>GSM</vt:lpstr>
      <vt:lpstr>SIM Card in GSM</vt:lpstr>
      <vt:lpstr>SIM locking</vt:lpstr>
      <vt:lpstr>GSM improvement</vt:lpstr>
      <vt:lpstr>Network structure</vt:lpstr>
      <vt:lpstr>Network structure</vt:lpstr>
      <vt:lpstr>Cell sizes and coverage</vt:lpstr>
      <vt:lpstr>Cell sizes and coverage</vt:lpstr>
      <vt:lpstr>Cell sizes and coverage</vt:lpstr>
      <vt:lpstr>Cell sizes and coverage</vt:lpstr>
      <vt:lpstr>Cell sizes and coverage</vt:lpstr>
      <vt:lpstr>Cellular Network</vt:lpstr>
      <vt:lpstr>Cell Format</vt:lpstr>
      <vt:lpstr>Frequency Reuse</vt:lpstr>
      <vt:lpstr>Frequency Reuse</vt:lpstr>
      <vt:lpstr>Frequency Reuse</vt:lpstr>
      <vt:lpstr>Frequency Reuse</vt:lpstr>
      <vt:lpstr>Approaches to Cope with Increasing Capacity</vt:lpstr>
      <vt:lpstr>Capacity vs Accuracy</vt:lpstr>
      <vt:lpstr>Methodologies for location estimation</vt:lpstr>
      <vt:lpstr>Methodologies for location estimation</vt:lpstr>
      <vt:lpstr>Methodologies for location estimation</vt:lpstr>
      <vt:lpstr>Methodologies for location estimation</vt:lpstr>
      <vt:lpstr>Error of location base estimation</vt:lpstr>
      <vt:lpstr>What’s is Location Base Service</vt:lpstr>
      <vt:lpstr>Basic operation modes of LBS</vt:lpstr>
      <vt:lpstr>Class discussions:  What are the applications of LBS?</vt:lpstr>
      <vt:lpstr>Applications of Location base Services</vt:lpstr>
      <vt:lpstr>Applications of Location base Services</vt:lpstr>
      <vt:lpstr>Values of LBS</vt:lpstr>
      <vt:lpstr>CNN news on location Base service</vt:lpstr>
      <vt:lpstr>Class discussions:  What are the issues/problems of LBS?</vt:lpstr>
      <vt:lpstr>What are the issues/problems of LBS?</vt:lpstr>
      <vt:lpstr>Major issues faced by LBS</vt:lpstr>
      <vt:lpstr>Major issues faced by LBS</vt:lpstr>
      <vt:lpstr>Major issues faced by LBS</vt:lpstr>
      <vt:lpstr>Major issues faced by LBS</vt:lpstr>
      <vt:lpstr>Q&amp;A</vt:lpstr>
      <vt:lpstr>Enabling Technology: QR CODE</vt:lpstr>
      <vt:lpstr>Barcode vs QR Code</vt:lpstr>
      <vt:lpstr>Different Codes</vt:lpstr>
      <vt:lpstr>Different Codes</vt:lpstr>
      <vt:lpstr>How does a scanner/smartphone interpret a barcode?</vt:lpstr>
      <vt:lpstr>Barcodes</vt:lpstr>
      <vt:lpstr>QR Codes</vt:lpstr>
      <vt:lpstr>QR Code</vt:lpstr>
      <vt:lpstr>QR Codes</vt:lpstr>
      <vt:lpstr>QR Code</vt:lpstr>
      <vt:lpstr>QR Code</vt:lpstr>
      <vt:lpstr>QR Codes</vt:lpstr>
      <vt:lpstr>Algorithm of QR Code (not exam)</vt:lpstr>
      <vt:lpstr>Create a QR Code</vt:lpstr>
      <vt:lpstr>QR Code generator</vt:lpstr>
      <vt:lpstr>QR Code generator</vt:lpstr>
      <vt:lpstr>What are the benefits of QR Code?</vt:lpstr>
      <vt:lpstr>Benefits of QR Code</vt:lpstr>
      <vt:lpstr>Benefits to Consumers</vt:lpstr>
      <vt:lpstr>Benefits to Marketer</vt:lpstr>
      <vt:lpstr>Benefits  to Wireless Operators </vt:lpstr>
      <vt:lpstr>Benefits  to Wireless Operators</vt:lpstr>
      <vt:lpstr>Benefits  to Wireless Operators</vt:lpstr>
      <vt:lpstr>Benefits  to Wireless Operators</vt:lpstr>
      <vt:lpstr>Handset Manufacturers</vt:lpstr>
      <vt:lpstr>Application and Service Providers</vt:lpstr>
      <vt:lpstr>References</vt:lpstr>
    </vt:vector>
  </TitlesOfParts>
  <Company>Dept. of EEE, HKU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GSM</dc:title>
  <dc:creator>Dr. W.T. Fok</dc:creator>
  <cp:lastModifiedBy>Ho Chun Wu</cp:lastModifiedBy>
  <cp:revision>19</cp:revision>
  <cp:lastPrinted>2013-02-15T06:37:34Z</cp:lastPrinted>
  <dcterms:created xsi:type="dcterms:W3CDTF">2010-06-27T17:36:46Z</dcterms:created>
  <dcterms:modified xsi:type="dcterms:W3CDTF">2025-09-13T12:51:58Z</dcterms:modified>
</cp:coreProperties>
</file>