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937760"/>
            <a:ext cx="3291840" cy="10972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749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Final Oral Defense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July 2026</a:t>
            </a:r>
          </a:p>
        </p:txBody>
      </p:sp>
      <p:pic>
        <p:nvPicPr>
          <p:cNvPr id="5" name="Picture 4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1828800"/>
            <a:ext cx="7040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75829"/>
                </a:solidFill>
                <a:latin typeface="Times New Roman"/>
              </a:rPr>
              <a:t>Design and Implementation of a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275829"/>
                </a:solidFill>
                <a:latin typeface="Times New Roman"/>
              </a:rPr>
              <a:t>RAG-Based Teacher–Student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275829"/>
                </a:solidFill>
                <a:latin typeface="Times New Roman"/>
              </a:rPr>
              <a:t>Co-Learning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11480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Jin Yue  ·  3036494489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MSc(Eng) Electrical and Electronic Engineering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The University of Hong Kong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Supervisor: Dr. Andrew H.C. 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Overview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Task Scope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What the system covers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904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Motivation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Why this problem matters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904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Background Review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RAG and related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39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14904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10312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System &amp; Pipeline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Technical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67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8056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Benchmark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ELEC6081 evaluation 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867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48056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Results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Gate &amp; re-ranking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67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8056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Visual Results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Architecture figures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59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39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39" y="3867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39" y="448056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Conclusions &amp; Future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Takeaways and limits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2 /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Task Scope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972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A6B65"/>
                </a:solidFill>
                <a:latin typeface="Times New Roman"/>
              </a:rPr>
              <a:t>Build a course-deployable HKU Teacher–Student Co-Learning (SOLO) Bot on retrieval-augmented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365760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Shared course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3375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One KB per course: teachers write, students read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Formats: PDF, PPT, Word, Excel, CSV, TXT, MD, images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OCR fallback for scanned / image pages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Session uploads stay private to the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737360"/>
            <a:ext cx="365760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0195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Traceable RAG question answering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3375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Hybrid retrieval: dense + BM25 + RRF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Cross-encoder re-ranking with fallback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Three-band grounding gate (none / weak / grounded)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Sentence-level citations with file + page/slide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3657600" cy="73152"/>
          </a:xfrm>
          <a:prstGeom prst="rect">
            <a:avLst/>
          </a:prstGeom>
          <a:solidFill>
            <a:srgbClr val="56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0195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SOLO practice &amp; feedback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40280"/>
            <a:ext cx="33375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Tiered exercises guided by SOLO taxonomy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Automated grading against answer keys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Teacher export of questions and scores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Export boundary: no full conversation transcripts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3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Task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Motivation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14300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07592"/>
            <a:ext cx="9966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Private course knowledge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General LLMs cannot sync with the latest slides, handouts, and course-specific materials.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37744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9966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Missing provenance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Fluent answers without file/page evidence are hard to trust in teaching.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749040"/>
            <a:ext cx="502920" cy="502920"/>
          </a:xfrm>
          <a:prstGeom prst="ellipse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1304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61188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776472"/>
            <a:ext cx="9966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Incomplete learning loop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QA alone does not support practice, grading, and teacher feedback.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983480"/>
            <a:ext cx="502920" cy="502920"/>
          </a:xfrm>
          <a:prstGeom prst="ellipse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4748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84632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010912"/>
            <a:ext cx="9966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Messy real corpora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PDFs, slides, tables, OCR pages, and bilingual terminology break naive pipelines.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4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Background Review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4300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RAG paradigm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52578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Retriever + generator: condition answers on retrieved passages (Lewis et al.)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Updates the non-parametric store without retraining the LLM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Compared with direct answering: better sync, traceability, lower hallucination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321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0759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Trustworthy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Reflection / corrective retrieval (e.g. CRAG-style three-band structure)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Evidence position matters (Lost-in-the-Middle)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Citations must be enforced, not merely requested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5577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49039"/>
            <a:ext cx="5577840" cy="73152"/>
          </a:xfrm>
          <a:prstGeom prst="rect">
            <a:avLst/>
          </a:prstGeom>
          <a:solidFill>
            <a:srgbClr val="56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13631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Retrieval stack used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51959"/>
            <a:ext cx="5257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Multilingual dense embeddings + BM25 lexical channel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Query rewrite / HyDE; reciprocal rank fusion; cross-encoder re-rank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At most one corrective re-query when top evidence is weak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532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53212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13631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Pedagogy: SOLO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59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Biggs &amp; Collis: structural complexity of learner responses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Guides tiered item design from unistructural to relational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Supports a closed loop beyond one-shot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5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Background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Technical Implementation — Architecture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A6B65"/>
                </a:solidFill>
                <a:latin typeface="Times New Roman"/>
              </a:rPr>
              <a:t>Single-process FastAPI + static frontend; local embeddings/re-ranking; external LLM only for generation (qwen-plus).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2194560" cy="54864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Login · Teacher console · Assistant · KB · Quiz ·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51760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852928"/>
            <a:ext cx="2194560" cy="548640"/>
          </a:xfrm>
          <a:prstGeom prst="roundRect">
            <a:avLst/>
          </a:prstGeom>
          <a:solidFill>
            <a:srgbClr val="56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Auth/admin · Session/file/QA APIs · Exercises ·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49039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7"/>
            <a:ext cx="2194560" cy="54864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2335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023359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Parsing/OCR · Hybrid retrieval · Grounded generation · Quiz/grading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46320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5047488"/>
            <a:ext cx="2194560" cy="548640"/>
          </a:xfrm>
          <a:prstGeom prst="roundRect">
            <a:avLst/>
          </a:prstGeom>
          <a:solidFill>
            <a:srgbClr val="1B3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2064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SQLite (auth+KB) · ChromaDB (sessions) · FAISS vectors ·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9893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6B65"/>
                </a:solidFill>
                <a:latin typeface="Times New Roman"/>
              </a:rPr>
              <a:t>ChromaDB stores sessions/messages/quizzes — not document vectors. Document vectors live in FAISS.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6 /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Technical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Technical Implementation — End-to-End Pipeline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188720"/>
            <a:ext cx="2743200" cy="50292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Ingest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12140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Parse (+OCR)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081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Token chunk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04164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Parent–child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0017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Embed → FAISS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91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1BB45"/>
                </a:solidFill>
                <a:latin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188720"/>
            <a:ext cx="2743200" cy="50292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2618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Retrieve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12140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Rewrite + HyDE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081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Dense ∥ BM25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404164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RRF fusion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50017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Re-rank ≤1 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291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1BB45"/>
                </a:solidFill>
                <a:latin typeface="Times New Roman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2743200" cy="50292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2618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Generate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12140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3-band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081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Refine / LiM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04164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LLM 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0017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Citation repair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291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1BB45"/>
                </a:solidFill>
                <a:latin typeface="Times New Roman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1188720"/>
            <a:ext cx="2743200" cy="50292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2618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Teach loop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212140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SOLO quiz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308152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Grading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3728" y="404164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Teacher export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53728" y="5001768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Fail-safe fallback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7 / 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Technical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Technical Implementation — Three-Band Grounding Gate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A6B65"/>
                </a:solidFill>
                <a:latin typeface="Times New Roman"/>
              </a:rPr>
              <a:t>Decision emphasises the second-ranked hit: course-covered questions usually have two strong passages; out-of-scope items often have one accidental hit then a 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200400" cy="50292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Times New Roman"/>
              </a:rPr>
              <a:t>Evidence too weak → labelled general answer (non-course)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965960"/>
            <a:ext cx="3200400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299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weak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5176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Times New Roman"/>
              </a:rPr>
              <a:t>Partial support → labelled general answer; boundary may call sufficiency judge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965960"/>
            <a:ext cx="3200400" cy="50292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299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grounded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Times New Roman"/>
              </a:rPr>
              <a:t>Course-supported → constrained LLM answer with citations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14800"/>
            <a:ext cx="11338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A2E"/>
                </a:solidFill>
                <a:latin typeface="Times New Roman"/>
              </a:rPr>
              <a:t>Selected cosine-regime thresholds (Table 5.3 / §8.5)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multi_strong / single_strong / second_support = 0.62 / 0.75 / 0.62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Re-ranking regime uses a separate threshold family (e.g. strong ≈ 0.80) — scale discipline matters.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Boundary weak cases: sufficiency judge on top-5 passages; fail-safe treats judge failure as insufficient.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8 /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Technical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Benchmark Composition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43000"/>
            <a:ext cx="5577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ELEC6081 evaluation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5257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Course: graduate biomedical signal processing materials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65 questions: on-topic + deliberately out-of-scope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Fields: question, ground_truth, expected_grounding (for OOS)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Harness: tools/rag_eval.py (full and grounding-only modes)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Gate calibration embedding: BAAI/bge-small-zh-v1.5 (re-rank off)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Re-rank regime: multilingual-e5-small + MiniLM cross-encoder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Generation endpoint: DashScope-compatible qwen-plus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321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0759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What is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Grounded precision / recall of the three-band gate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Context precision under fusion-order vs re-ranking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Ownership / export-boundary conformance (deterministic tests)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Design goal: answer course questions; refuse non-course ones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Thresholds are corpus-specific — not copied from public benchmarks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On-topic and off-topic items are both required for gate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9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Benchmark Composition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Evaluation and Results — Grounding Gate (H1)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887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657600" cy="91440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75829"/>
                </a:solidFill>
                <a:latin typeface="Times New Roman"/>
              </a:rPr>
              <a:t>0.982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Grounded precision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selected setting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657600" cy="91440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75829"/>
                </a:solidFill>
                <a:latin typeface="Times New Roman"/>
              </a:rPr>
              <a:t>0.982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Grounded recall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selected setting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88720"/>
            <a:ext cx="3657600" cy="9144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75829"/>
                </a:solidFill>
                <a:latin typeface="Times New Roman"/>
              </a:rPr>
              <a:t>0.62/0.75/0.62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Threshold triple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multi / single / second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74720"/>
            <a:ext cx="11338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108813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A2E"/>
                </a:solidFill>
                <a:latin typeface="Times New Roman"/>
              </a:rPr>
              <a:t>Finding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Raising only the top-hit threshold can remove fabrication but refuses too many legitimate questions.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Requiring two passages to clear 0.62 keeps precision and recall high together.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Selected thresholds are pinned by unit tests against high-precision-only alternatives.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Fail-safe: weak / none routes to an explicitly labelled general-knowledge answer.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10 /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Evaluation and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Evaluation and Results — Re-ranking (H2)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8872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486400" cy="9144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5A6B65"/>
                </a:solidFill>
                <a:latin typeface="Times New Roman"/>
              </a:rPr>
              <a:t>Fusion-order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5A6B65"/>
                </a:solidFill>
                <a:latin typeface="Times New Roman"/>
              </a:rPr>
              <a:t>context_precision = 0.380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65"/>
                </a:solidFill>
                <a:latin typeface="Times New Roman"/>
              </a:rPr>
              <a:t>mean over 10-question probe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88720"/>
            <a:ext cx="5486400" cy="91440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After cross-encoder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75829"/>
                </a:solidFill>
                <a:latin typeface="Times New Roman"/>
              </a:rPr>
              <a:t>context_precision = 0.613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65"/>
                </a:solidFill>
                <a:latin typeface="Times New Roman"/>
              </a:rPr>
              <a:t>mean over 10-question probe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57600"/>
            <a:ext cx="11338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108813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2E"/>
                </a:solidFill>
                <a:latin typeface="Times New Roman"/>
              </a:rPr>
              <a:t>Δ = +0.233; improves on 7 of 10 questions.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Re-ranking demotes quiz/tutorial fragments that only share vocabulary (e.g. percentage tokens).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Cross-encoder reads query and passage jointly — single-vector pre-query embeddings cannot.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Under the re-rank score scale, gate thresholds must be re-calibrated (H3 / scale discipline).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11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Evaluation and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Visual Results — Container View (Fig. 4.1)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pic>
        <p:nvPicPr>
          <p:cNvPr id="7" name="Picture 6" descr="fig_4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910336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Visual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Visual Results — Grounding Gate (Fig. 5.3)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pic>
        <p:nvPicPr>
          <p:cNvPr id="7" name="Picture 6" descr="fig_5_3_grou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910336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Visual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Conclusions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143000"/>
            <a:ext cx="2011680" cy="91440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14300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399032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A deployable teacher–student co-learning bot over one shared course KB.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2011680" cy="91440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Method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33172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587752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Hybrid retrieval + calibrated three-band gate + citation coverage repair.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2011680" cy="91440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764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Pedagogy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52044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776472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SOLO-informed practice and an export path that preserves privacy boundaries.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9160"/>
            <a:ext cx="2011680" cy="91440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6519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70916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965192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On ELEC6081: gate P/R ≈ 0.982; re-ranking lifts context precision by +0.233.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14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Conclusions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Limitations and Future Work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43000"/>
            <a:ext cx="5577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5257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Single course / single instance — no multi-course isolation yet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Gate thresholds do not transfer across models or growing KBs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Complex layouts, noisy scans, and estimated page numbers remain weak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Practice adaptivity is still shallow compared with full tutoring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321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0759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Multi-course configuration and stronger campus deployment (HTTPS / IdP)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Better layout-aware parsing and more reliable location anchors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Continued recalibration of gate and re-rank thresholds on course sets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Deeper SOLO-adaptive practice and richer teacher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15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Limitations and Future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1BB45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Jin Yue  ·  3036494489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Supervisor: Dr. Andrew H.C. Wu  ·  ECE, HKU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