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4937760"/>
            <a:ext cx="3291840" cy="109728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749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Final Oral Defense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Times New Roman"/>
              </a:rPr>
              <a:t>July 2026</a:t>
            </a:r>
          </a:p>
        </p:txBody>
      </p:sp>
      <p:pic>
        <p:nvPicPr>
          <p:cNvPr id="5" name="Picture 4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63440" y="18288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275829"/>
                </a:solidFill>
                <a:latin typeface="Times New Roman"/>
              </a:rPr>
              <a:t>Design and Implementation of a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275829"/>
                </a:solidFill>
                <a:latin typeface="Times New Roman"/>
              </a:rPr>
              <a:t>RAG-Based Teacher–Student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275829"/>
                </a:solidFill>
                <a:latin typeface="Times New Roman"/>
              </a:rPr>
              <a:t>Co-Learning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411480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65"/>
                </a:solidFill>
                <a:latin typeface="Times New Roman"/>
              </a:rPr>
              <a:t>Jin Yue  ·  3036494489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65"/>
                </a:solidFill>
                <a:latin typeface="Times New Roman"/>
              </a:rPr>
              <a:t>MSc(Eng) Electrical and Electronic Engineering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65"/>
                </a:solidFill>
                <a:latin typeface="Times New Roman"/>
              </a:rPr>
              <a:t>The University of Hong Kong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65"/>
                </a:solidFill>
                <a:latin typeface="Times New Roman"/>
              </a:rPr>
              <a:t>Supervisor: Dr. Andrew H.C. Wu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Overview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23444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463040"/>
            <a:ext cx="640080" cy="41148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904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Task Scope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What the system covers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23444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0" y="1463040"/>
            <a:ext cx="640080" cy="41148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4904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031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Motivation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Why this problem matters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3444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463040"/>
            <a:ext cx="640080" cy="41148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904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031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Background Review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RAG and related methods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23444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39" y="1463040"/>
            <a:ext cx="640080" cy="41148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39" y="14904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1031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System &amp; Pipeline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Technical implementation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61188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3840480"/>
            <a:ext cx="640080" cy="41148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8679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8056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Benchmark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ELEC6081 evaluation 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361188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74720" y="3840480"/>
            <a:ext cx="640080" cy="41148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38679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48056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Results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Gate &amp; re-ranking on ELEC6081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1188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3840480"/>
            <a:ext cx="640080" cy="41148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8679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48056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Visual Results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Architecture figures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59" y="3611880"/>
            <a:ext cx="2697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35439" y="3840480"/>
            <a:ext cx="640080" cy="41148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39" y="38679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39" y="448056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Conclusions &amp; Future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Takeaways and limits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2 /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Task Scope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65"/>
                </a:solidFill>
                <a:latin typeface="Times New Roman"/>
              </a:rPr>
              <a:t>Goal: a course-deployable Teacher–Student Co-Learning (SOLO) Bot using retrieval-augmented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00200"/>
            <a:ext cx="3703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3703320" cy="7315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64792"/>
            <a:ext cx="3374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Shared course knowledge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67128"/>
            <a:ext cx="3374136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One KB per course: teachers write, students read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Formats: PDF, PPT, Word, Excel, images (+ OCR)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OCR fallback for scanned / image pages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Session uploads stay private to the session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703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600200"/>
            <a:ext cx="3703320" cy="7315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64792"/>
            <a:ext cx="3374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Traceable RAG question answering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167128"/>
            <a:ext cx="3374136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Hybrid retrieval: dense + BM25 + RRF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Cross-encoder re-ranking with fallback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Three-band gate: none / weak / grounded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Citations target file + page/slide when metadata allows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00200"/>
            <a:ext cx="3703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00200"/>
            <a:ext cx="3703320" cy="73152"/>
          </a:xfrm>
          <a:prstGeom prst="rect">
            <a:avLst/>
          </a:prstGeom>
          <a:solidFill>
            <a:srgbClr val="56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764792"/>
            <a:ext cx="3374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SOLO practice &amp; feedback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167128"/>
            <a:ext cx="3374136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Tiered exercises guided by SOLO taxonomy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Automated grading against answer keys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Teacher export of questions and scores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Export omits full conversation transcripts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3 /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Task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Motivation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441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1143000"/>
            <a:ext cx="10424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07592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Private course knowledge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65"/>
                </a:solidFill>
                <a:latin typeface="Times New Roman"/>
              </a:rPr>
              <a:t>General LLMs are not kept in sync with latest slides, handouts, and course-specific materials.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514600"/>
            <a:ext cx="502920" cy="502920"/>
          </a:xfrm>
          <a:prstGeom prst="ellipse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786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2377440"/>
            <a:ext cx="10424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542032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Missing provenance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65"/>
                </a:solidFill>
                <a:latin typeface="Times New Roman"/>
              </a:rPr>
              <a:t>Fluent answers without file/page evidence are hard to trust in teaching.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749040"/>
            <a:ext cx="502920" cy="502920"/>
          </a:xfrm>
          <a:prstGeom prst="ellipse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130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611880"/>
            <a:ext cx="10424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3776472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Incomplete learning loop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65"/>
                </a:solidFill>
                <a:latin typeface="Times New Roman"/>
              </a:rPr>
              <a:t>QA alone does not provide practice, grading, and teacher feedback.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4983480"/>
            <a:ext cx="502920" cy="502920"/>
          </a:xfrm>
          <a:prstGeom prst="ellipse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0474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4440" y="4846320"/>
            <a:ext cx="10424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5010912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Messy real corpora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B65"/>
                </a:solidFill>
                <a:latin typeface="Times New Roman"/>
              </a:rPr>
              <a:t>PDFs, slides, tables, OCR pages, and bilingual terms often break naive pipelines.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4 /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Background Review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43000"/>
            <a:ext cx="55778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577840" cy="7315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07592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RAG paradigm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09928"/>
            <a:ext cx="5248656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Retriever + generator: condition answers on retrieved passages (Lewis et al.)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Updates the non-parametric store without retraining the LLM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Relative to direct answering: better material sync and traceability; can reduce unsupported 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5321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32120" cy="7315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307592"/>
            <a:ext cx="5202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Faithfulness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709928"/>
            <a:ext cx="5202936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Reflection / corrective retrieval (e.g. CRAG-style three-band structure)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Evidence position matters (Lost-in-the-Middle)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Citation checks should be enforced, not left to prompting alone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49039"/>
            <a:ext cx="5577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49039"/>
            <a:ext cx="5577840" cy="73152"/>
          </a:xfrm>
          <a:prstGeom prst="rect">
            <a:avLst/>
          </a:prstGeom>
          <a:solidFill>
            <a:srgbClr val="56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913631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Retrieval stack used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315967"/>
            <a:ext cx="5248656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Multilingual dense embeddings + BM25 lexical channel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Query rewrite / HyDE; reciprocal rank fusion; cross-encoder re-rank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At most one corrective re-query when top evidence is weak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532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49039"/>
            <a:ext cx="5532120" cy="7315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913631"/>
            <a:ext cx="5202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Pedagogy: SOLO taxonomy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315967"/>
            <a:ext cx="5202936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Biggs &amp; Collis: structural complexity of learner responses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Guides tiered item design from unistructural to relational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Supports practice beyond one-shot QA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5 /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Background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Technical Implementation — Architecture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515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65"/>
                </a:solidFill>
                <a:latin typeface="Times New Roman"/>
              </a:rPr>
              <a:t>Single-process FastAPI + static frontend; embeddings/re-ranking run locally; external LLM used for generation (qwen-plus).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113385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755648"/>
            <a:ext cx="2194560" cy="54864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288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Login · Teacher console · Assistant · KB · Quiz · Export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852928"/>
            <a:ext cx="2194560" cy="548640"/>
          </a:xfrm>
          <a:prstGeom prst="roundRect">
            <a:avLst/>
          </a:prstGeom>
          <a:solidFill>
            <a:srgbClr val="56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92608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Auth/admin · Session/file/QA APIs · Exercises ·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49039"/>
            <a:ext cx="113385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950207"/>
            <a:ext cx="2194560" cy="54864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02335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Domain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02335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Parsing/OCR · Hybrid retrieval · Grounded generation · Quiz/grading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846320"/>
            <a:ext cx="113385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5047488"/>
            <a:ext cx="2194560" cy="548640"/>
          </a:xfrm>
          <a:prstGeom prst="roundRect">
            <a:avLst/>
          </a:prstGeom>
          <a:solidFill>
            <a:srgbClr val="1B3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206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SQLite (auth+KB) · ChromaDB (sessions) · FAISS vectors ·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989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65"/>
                </a:solidFill>
                <a:latin typeface="Times New Roman"/>
              </a:rPr>
              <a:t>ChromaDB stores sessions/messages/quizzes — not document vectors. Document vectors live in FAISS.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6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Technical Implementation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5829"/>
                </a:solidFill>
                <a:latin typeface="Times New Roman"/>
              </a:rPr>
              <a:t>Technical Implementation — End-to-End Pipeline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5760" y="1188720"/>
            <a:ext cx="2743200" cy="50292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Ingest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92024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12140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Parse (+OCR)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08152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Token chunk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40416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Parent–child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80060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00176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Embed → FAISS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1BB45"/>
                </a:solidFill>
                <a:latin typeface="Times New Roma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1188720"/>
            <a:ext cx="2743200" cy="50292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12618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Retrieve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2024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12140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Rewrite + HyDE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8803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08152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Dense ∥ BM25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84048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0416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RRF fusion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80060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1568" y="500176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Re-rank ≤1 fix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1BB45"/>
                </a:solidFill>
                <a:latin typeface="Times New Roman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188720"/>
            <a:ext cx="2743200" cy="50292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2618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Generate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192024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212140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3-band gate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803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308152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Refine / LiM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84048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40416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LLM answer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80060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500176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Citation repair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1BB45"/>
                </a:solidFill>
                <a:latin typeface="Times New Roman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188720"/>
            <a:ext cx="2743200" cy="50292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12618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Teach loop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192024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53728" y="212140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SOLO quiz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28803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53728" y="308152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Grading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384048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53728" y="40416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Teacher export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480060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3728" y="500176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E"/>
                </a:solidFill>
                <a:latin typeface="Times New Roman"/>
              </a:rPr>
              <a:t>Fail-safe fallback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7 / 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Technical Implementation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Three-Band Grounding Gate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51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65"/>
                </a:solidFill>
                <a:latin typeface="Times New Roman"/>
              </a:rPr>
              <a:t>CRAG-inspired gate. Decision emphasises the second-ranked hit: on this corpus, course-covered questions often have two strong passages; out-of-scope items often show one accidental hit then a drop.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92808"/>
            <a:ext cx="3200400" cy="45720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none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Evidence too weak.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→ labelled general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(not a course conclusion)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9164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1892808"/>
            <a:ext cx="3200400" cy="45720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weak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146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Partial support.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→ labelled general answer;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boundary may call sufficiency judge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9164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1892808"/>
            <a:ext cx="3200400" cy="45720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47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grounded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146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Treated as course-supported.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→ constrained LLM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with citations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251960"/>
            <a:ext cx="1133856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2E"/>
                </a:solidFill>
                <a:latin typeface="Times New Roman"/>
              </a:rPr>
              <a:t>Cosine-regime thresholds calibrated on ELEC6081 (Table 5.3 / §8.5)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multi_strong / single_strong / second_support = 0.62 / 0.75 / 0.62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Re-ranking regime uses a separate threshold family (strong ≈ 0.80); not interchangeable.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Boundary weak cases: optional sufficiency judge on top-5; labelled fallback if judge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8 /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Technical Implementation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Benchmark Composition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43000"/>
            <a:ext cx="55778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577840" cy="7315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07592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ELEC6081 evaluation setting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09928"/>
            <a:ext cx="5248656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Course: graduate biomedical signal processing materials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65 questions: on-topic + deliberately out-of-scope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Fields: question, ground_truth, expected_grounding (for OOS)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Harness: tools/rag_eval.py (full and grounding-only modes)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Gate calibration embedding: BAAI/bge-small-zh-v1.5 (re-rank off)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Re-rank regime: multilingual-e5-small + MiniLM cross-encoder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Generation endpoint: DashScope-compatible qwen-plus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5321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32120" cy="7315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307592"/>
            <a:ext cx="5202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What is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709928"/>
            <a:ext cx="5202936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Grounded precision / recall of the three-band gate (65 questions)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Context precision: fusion-order vs re-ranking (10-question probe)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Ownership / export-boundary checks (deterministic unit tests)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Design goal: answer when course-supported; otherwise label as general knowledge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Thresholds are corpus-specific — not transferred from public benchmarks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On-topic and off-topic items are both needed to assess the 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9 /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Benchmark Composition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5829"/>
                </a:solidFill>
                <a:latin typeface="Times New Roman"/>
              </a:rPr>
              <a:t>Evaluation and Results — Grounding Gate (H1)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887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3657600" cy="91440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75829"/>
                </a:solidFill>
                <a:latin typeface="Times New Roman"/>
              </a:rPr>
              <a:t>0.982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Grounded precision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65-q ELEC6081, cosine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887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88720"/>
            <a:ext cx="3657600" cy="91440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630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75829"/>
                </a:solidFill>
                <a:latin typeface="Times New Roman"/>
              </a:rPr>
              <a:t>0.982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Grounded recall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65-q ELEC6081, cosine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88720"/>
            <a:ext cx="36576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9144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4630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75829"/>
                </a:solidFill>
                <a:latin typeface="Times New Roman"/>
              </a:rPr>
              <a:t>0.62/0.75/0.62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860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2A2E"/>
                </a:solidFill>
                <a:latin typeface="Times New Roman"/>
              </a:rPr>
              <a:t>Threshold triple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A6B65"/>
                </a:solidFill>
                <a:latin typeface="Times New Roman"/>
              </a:rPr>
              <a:t>multi / single / second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474720"/>
            <a:ext cx="113385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0332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A2E"/>
                </a:solidFill>
                <a:latin typeface="Times New Roman"/>
              </a:rPr>
              <a:t>Finding (relative to alternatives on this set; not a global optimum claim)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Raising only the top-hit threshold can cut fabrication but refuses many legitimate course questions.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Requiring two passages to clear 0.62 yields high precision and recall together here (0.982 / 0.982).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Selected thresholds are pinned by unit tests against a high-precision-only alternative.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Fail-safe: weak / none → explicitly labelled general-knowledge answer (not a silent course claim).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10 / 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Evaluation and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Evaluation and Results — Re-ranking (H2)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88720"/>
            <a:ext cx="54864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5486400" cy="9144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A6B65"/>
                </a:solidFill>
                <a:latin typeface="Times New Roman"/>
              </a:rPr>
              <a:t>Fusion-order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A6B65"/>
                </a:solidFill>
                <a:latin typeface="Times New Roman"/>
              </a:rPr>
              <a:t>context_precision = 0.380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65"/>
                </a:solidFill>
                <a:latin typeface="Times New Roman"/>
              </a:rPr>
              <a:t>mean over 10-question probe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54864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188720"/>
            <a:ext cx="5486400" cy="91440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After cross-encoder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75829"/>
                </a:solidFill>
                <a:latin typeface="Times New Roman"/>
              </a:rPr>
              <a:t>context_precision = 0.613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65"/>
                </a:solidFill>
                <a:latin typeface="Times New Roman"/>
              </a:rPr>
              <a:t>mean over 10-question probe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657600"/>
            <a:ext cx="113385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2E"/>
                </a:solidFill>
                <a:latin typeface="Times New Roman"/>
              </a:rPr>
              <a:t>Δ = +0.233 on mean context_precision; higher on 7 of 10 probe questions.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Example effect: demotes quiz/tutorial fragments that mainly share surface vocabulary.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Cross-encoder scores query–passage pairs jointly; bi-encoder retrieval scores do not.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Under the re-rank score scale, gate thresholds need re-calibration (H3 / scale discipline).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11 /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Evaluation and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5829"/>
                </a:solidFill>
                <a:latin typeface="Times New Roman"/>
              </a:rPr>
              <a:t>Visual Results — Container View (Fig. 4.1)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pic>
        <p:nvPicPr>
          <p:cNvPr id="7" name="Picture 6" descr="fig_4_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143000"/>
            <a:ext cx="910336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Visual 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5829"/>
                </a:solidFill>
                <a:latin typeface="Times New Roman"/>
              </a:rPr>
              <a:t>Visual Results — Grounding Gate (Fig. 5.3)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pic>
        <p:nvPicPr>
          <p:cNvPr id="7" name="Picture 6" descr="fig_5_3_grou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143000"/>
            <a:ext cx="910336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13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Visual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Conclusions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1143000"/>
            <a:ext cx="2011680" cy="91440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990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143000"/>
            <a:ext cx="90068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39903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A working teacher–student co-learning bot over one shared course KB (single-course scope).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2011680" cy="91440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87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Method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2331720"/>
            <a:ext cx="90068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5877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Hybrid retrieval + CRAG-inspired three-band gate (corpus-calibrated) + citation coverage repair.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2011680" cy="914400"/>
          </a:xfrm>
          <a:prstGeom prst="round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764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Pedagogy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3520440"/>
            <a:ext cx="90068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377647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SOLO-informed practice; export limited to questions and scores (no full transcripts).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09160"/>
            <a:ext cx="2011680" cy="914400"/>
          </a:xfrm>
          <a:prstGeom prst="round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651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4709160"/>
            <a:ext cx="90068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496519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  <a:latin typeface="Times New Roman"/>
              </a:rPr>
              <a:t>ELEC6081: gate P/R = 0.982 (65-q, cosine); context_precision +0.233 after re-rank (10-q probe).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14 /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Conclusions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86868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859536"/>
            <a:ext cx="12081967" cy="2743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79552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75829"/>
                </a:solidFill>
                <a:latin typeface="Times New Roman"/>
              </a:rPr>
              <a:t>Limitations and Future Work</a:t>
            </a:r>
          </a:p>
        </p:txBody>
      </p:sp>
      <p:pic>
        <p:nvPicPr>
          <p:cNvPr id="6" name="Picture 5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43000"/>
            <a:ext cx="55778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577840" cy="7315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07592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09928"/>
            <a:ext cx="5248656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Single course / single instance — no multi-course isolation yet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Gate thresholds do not transfer across models or growing KBs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Complex layouts, noisy scans, and estimated page numbers remain weak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Practice adaptivity is still shallow compared with full tutoring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5321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32120" cy="73152"/>
          </a:xfrm>
          <a:prstGeom prst="rect">
            <a:avLst/>
          </a:prstGeom>
          <a:solidFill>
            <a:srgbClr val="61B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307592"/>
            <a:ext cx="5202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5829"/>
                </a:solidFill>
                <a:latin typeface="Times New Roman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709928"/>
            <a:ext cx="5202936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Multi-course configuration and stronger campus deployment (HTTPS / IdP)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Better layout-aware parsing and more reliable location anchors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Continued recalibration of gate and re-rank thresholds on course sets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A2E"/>
                </a:solidFill>
                <a:latin typeface="Times New Roman"/>
              </a:rPr>
              <a:t>• Deeper SOLO-adaptive practice and richer teacher analytics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0" y="662025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Times New Roman"/>
              </a:rPr>
              <a:t>15 /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202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Times New Roman"/>
              </a:rPr>
              <a:t>Limitations and Future 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5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__Users_10603_AppData_Roaming_Cursor_User_workspaceStorage_210eba0554e21ef301030bf7636ca08f_images_image-ca45a952-8e13-4cad-972b-165764d2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1168"/>
            <a:ext cx="3108960" cy="6103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1BB45"/>
                </a:solidFill>
                <a:latin typeface="Times New Roman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Jin Yue  ·  3036494489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Supervisor: Dr. Andrew H.C. Wu  ·  ECE, HKU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